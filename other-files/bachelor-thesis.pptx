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2" r:id="rId3"/>
    <p:sldId id="267" r:id="rId4"/>
    <p:sldId id="263" r:id="rId5"/>
    <p:sldId id="256" r:id="rId6"/>
    <p:sldId id="265" r:id="rId7"/>
    <p:sldId id="25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59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91" d="100"/>
          <a:sy n="91" d="100"/>
        </p:scale>
        <p:origin x="370" y="-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F59828-60E3-4BEE-A47B-EC76A1523CA5}" type="doc">
      <dgm:prSet loTypeId="urn:microsoft.com/office/officeart/2005/8/layout/process1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95584C3-6B6C-4F72-88B7-3638649561FF}">
      <dgm:prSet phldrT="[Text]" phldr="0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gradFill flip="none" rotWithShape="0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IN" dirty="0"/>
            <a:t>CityJSON</a:t>
          </a:r>
        </a:p>
      </dgm:t>
    </dgm:pt>
    <dgm:pt modelId="{BE986448-AD1B-4622-AF8A-5403E99A10BB}" type="parTrans" cxnId="{B984C4F7-A2D4-401B-881D-644DF5E628E2}">
      <dgm:prSet/>
      <dgm:spPr/>
      <dgm:t>
        <a:bodyPr/>
        <a:lstStyle/>
        <a:p>
          <a:endParaRPr lang="en-IN"/>
        </a:p>
      </dgm:t>
    </dgm:pt>
    <dgm:pt modelId="{07D754C4-5787-4653-B07C-6D08EDC9D1DC}" type="sibTrans" cxnId="{B984C4F7-A2D4-401B-881D-644DF5E628E2}">
      <dgm:prSet>
        <dgm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IN"/>
        </a:p>
      </dgm:t>
    </dgm:pt>
    <dgm:pt modelId="{91E3BC05-57B2-4402-90A6-B4DB9F66B08E}">
      <dgm:prSet phldrT="[Text]" phldr="0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gradFill flip="none" rotWithShape="0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IN" dirty="0"/>
            <a:t>Feature Extraction</a:t>
          </a:r>
        </a:p>
      </dgm:t>
    </dgm:pt>
    <dgm:pt modelId="{C3BEAB52-737B-413B-A12D-B32E29D88206}" type="parTrans" cxnId="{D29494B5-53D9-4764-BE39-759C3CBCD162}">
      <dgm:prSet/>
      <dgm:spPr/>
      <dgm:t>
        <a:bodyPr/>
        <a:lstStyle/>
        <a:p>
          <a:endParaRPr lang="en-IN"/>
        </a:p>
      </dgm:t>
    </dgm:pt>
    <dgm:pt modelId="{C03BE8B5-B40D-4C10-889A-6272966BBEE9}" type="sibTrans" cxnId="{D29494B5-53D9-4764-BE39-759C3CBCD162}">
      <dgm:prSet>
        <dgm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IN"/>
        </a:p>
      </dgm:t>
    </dgm:pt>
    <dgm:pt modelId="{BF9E06AE-901B-4735-86B5-39E731D2BEC2}">
      <dgm:prSet phldrT="[Text]" phldr="0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gradFill flip="none" rotWithShape="0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IN" dirty="0"/>
            <a:t>Stage 1: Classify</a:t>
          </a:r>
        </a:p>
      </dgm:t>
    </dgm:pt>
    <dgm:pt modelId="{07579A13-2C09-4B0D-9E04-CD0E1C095A09}" type="parTrans" cxnId="{E4C39A33-9300-4B53-80B3-419D847E121D}">
      <dgm:prSet/>
      <dgm:spPr/>
      <dgm:t>
        <a:bodyPr/>
        <a:lstStyle/>
        <a:p>
          <a:endParaRPr lang="en-IN"/>
        </a:p>
      </dgm:t>
    </dgm:pt>
    <dgm:pt modelId="{89F98C28-B441-4A67-9B8B-5EEEECDACB30}" type="sibTrans" cxnId="{E4C39A33-9300-4B53-80B3-419D847E121D}">
      <dgm:prSet>
        <dgm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IN"/>
        </a:p>
      </dgm:t>
    </dgm:pt>
    <dgm:pt modelId="{4B3BE247-37BF-40E7-AC6E-90FBD731CAE5}">
      <dgm:prSet phldrT="[Text]" phldr="0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gradFill flip="none" rotWithShape="0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IN" dirty="0"/>
            <a:t>7 Features from LOD1.3 Geometry</a:t>
          </a:r>
        </a:p>
      </dgm:t>
    </dgm:pt>
    <dgm:pt modelId="{07E4B248-44F5-4783-AAE1-69B83D2ADA1F}" type="parTrans" cxnId="{10FE1435-8485-4EC6-BF04-7D74FDCC2A1A}">
      <dgm:prSet/>
      <dgm:spPr/>
      <dgm:t>
        <a:bodyPr/>
        <a:lstStyle/>
        <a:p>
          <a:endParaRPr lang="en-IN"/>
        </a:p>
      </dgm:t>
    </dgm:pt>
    <dgm:pt modelId="{E5FAAFB4-2DFE-4536-B29C-3E4131964EA9}" type="sibTrans" cxnId="{10FE1435-8485-4EC6-BF04-7D74FDCC2A1A}">
      <dgm:prSet/>
      <dgm:spPr/>
      <dgm:t>
        <a:bodyPr/>
        <a:lstStyle/>
        <a:p>
          <a:endParaRPr lang="en-IN"/>
        </a:p>
      </dgm:t>
    </dgm:pt>
    <dgm:pt modelId="{3241B454-2110-440D-9016-E59F5B2B7285}">
      <dgm:prSet phldrT="[Text]" phldr="0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gradFill flip="none" rotWithShape="0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IN" dirty="0"/>
            <a:t>Stage 2: Predict</a:t>
          </a:r>
        </a:p>
      </dgm:t>
    </dgm:pt>
    <dgm:pt modelId="{ECED0E2A-59F1-4E3D-A6EC-1A45DED37C59}" type="parTrans" cxnId="{BDCBCBC5-8416-4546-9113-8F6AE21E5847}">
      <dgm:prSet/>
      <dgm:spPr/>
      <dgm:t>
        <a:bodyPr/>
        <a:lstStyle/>
        <a:p>
          <a:endParaRPr lang="en-IN"/>
        </a:p>
      </dgm:t>
    </dgm:pt>
    <dgm:pt modelId="{E822CE25-7B2F-462C-90C2-0CF712FEEB66}" type="sibTrans" cxnId="{BDCBCBC5-8416-4546-9113-8F6AE21E5847}">
      <dgm:prSet>
        <dgm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IN"/>
        </a:p>
      </dgm:t>
    </dgm:pt>
    <dgm:pt modelId="{857DC2D8-CAB1-4135-9F0E-79E41551CC7A}">
      <dgm:prSet phldrT="[Text]" phldr="0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gradFill flip="none" rotWithShape="0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IN" dirty="0"/>
            <a:t>Geometric Construction</a:t>
          </a:r>
        </a:p>
      </dgm:t>
    </dgm:pt>
    <dgm:pt modelId="{FF7DD7F9-2771-49B5-8C65-A45224B691ED}" type="parTrans" cxnId="{CF3CE7FC-6F65-410B-8198-0BD565BBF644}">
      <dgm:prSet/>
      <dgm:spPr/>
      <dgm:t>
        <a:bodyPr/>
        <a:lstStyle/>
        <a:p>
          <a:endParaRPr lang="en-IN"/>
        </a:p>
      </dgm:t>
    </dgm:pt>
    <dgm:pt modelId="{D183DDA7-D551-43C1-A6FC-92DAF06901AD}" type="sibTrans" cxnId="{CF3CE7FC-6F65-410B-8198-0BD565BBF644}">
      <dgm:prSet>
        <dgm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IN"/>
        </a:p>
      </dgm:t>
    </dgm:pt>
    <dgm:pt modelId="{432CA573-C422-494C-ADC0-9254D1493902}">
      <dgm:prSet phldrT="[Text]" phldr="0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gradFill flip="none" rotWithShape="0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IN" dirty="0"/>
            <a:t>CityJSON</a:t>
          </a:r>
        </a:p>
      </dgm:t>
    </dgm:pt>
    <dgm:pt modelId="{6F78BAA3-48D7-4F10-A785-90E155E1C206}" type="parTrans" cxnId="{02245F4A-DA79-432F-917E-FE9CC5F86FD5}">
      <dgm:prSet/>
      <dgm:spPr/>
      <dgm:t>
        <a:bodyPr/>
        <a:lstStyle/>
        <a:p>
          <a:endParaRPr lang="en-IN"/>
        </a:p>
      </dgm:t>
    </dgm:pt>
    <dgm:pt modelId="{C6C80C34-7655-453C-8EC8-81B0413EAF2F}" type="sibTrans" cxnId="{02245F4A-DA79-432F-917E-FE9CC5F86FD5}">
      <dgm:prSet/>
      <dgm:spPr/>
      <dgm:t>
        <a:bodyPr/>
        <a:lstStyle/>
        <a:p>
          <a:endParaRPr lang="en-IN"/>
        </a:p>
      </dgm:t>
    </dgm:pt>
    <dgm:pt modelId="{E7E2ADBE-C5DE-4E4A-875B-3704ABD3568F}">
      <dgm:prSet phldrT="[Text]" phldr="0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gradFill flip="none" rotWithShape="0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IN"/>
            <a:t>Random Forest</a:t>
          </a:r>
          <a:endParaRPr lang="en-IN" dirty="0"/>
        </a:p>
      </dgm:t>
    </dgm:pt>
    <dgm:pt modelId="{00770978-E7B0-4B1D-87CB-07EB216A4673}" type="parTrans" cxnId="{14457F68-615A-449F-9D6B-8FFD4466CB16}">
      <dgm:prSet/>
      <dgm:spPr/>
      <dgm:t>
        <a:bodyPr/>
        <a:lstStyle/>
        <a:p>
          <a:endParaRPr lang="en-IN"/>
        </a:p>
      </dgm:t>
    </dgm:pt>
    <dgm:pt modelId="{59300FDE-A9F2-4FA5-9AB8-BA858A3423BC}" type="sibTrans" cxnId="{14457F68-615A-449F-9D6B-8FFD4466CB16}">
      <dgm:prSet/>
      <dgm:spPr/>
      <dgm:t>
        <a:bodyPr/>
        <a:lstStyle/>
        <a:p>
          <a:endParaRPr lang="en-IN"/>
        </a:p>
      </dgm:t>
    </dgm:pt>
    <dgm:pt modelId="{9BE2C774-36DB-408B-BF02-BC5B5DDF700B}">
      <dgm:prSet phldrT="[Text]" phldr="0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gradFill flip="none" rotWithShape="0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IN" dirty="0"/>
            <a:t>Flat, Gabled, Hipped</a:t>
          </a:r>
        </a:p>
      </dgm:t>
    </dgm:pt>
    <dgm:pt modelId="{03A6A06B-6F5C-4841-95D3-9AC2377DFC92}" type="parTrans" cxnId="{CFE6C3C5-7BDD-40B5-8660-D4BB33C43CC3}">
      <dgm:prSet/>
      <dgm:spPr/>
      <dgm:t>
        <a:bodyPr/>
        <a:lstStyle/>
        <a:p>
          <a:endParaRPr lang="en-IN"/>
        </a:p>
      </dgm:t>
    </dgm:pt>
    <dgm:pt modelId="{D62525F4-E136-4C01-B378-A1ABA52B1196}" type="sibTrans" cxnId="{CFE6C3C5-7BDD-40B5-8660-D4BB33C43CC3}">
      <dgm:prSet/>
      <dgm:spPr/>
      <dgm:t>
        <a:bodyPr/>
        <a:lstStyle/>
        <a:p>
          <a:endParaRPr lang="en-IN"/>
        </a:p>
      </dgm:t>
    </dgm:pt>
    <dgm:pt modelId="{D50D1262-6634-4271-8330-01FDA275F984}">
      <dgm:prSet phldrT="[Text]" phldr="0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gradFill flip="none" rotWithShape="0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IN" dirty="0"/>
            <a:t>Random Forest</a:t>
          </a:r>
        </a:p>
      </dgm:t>
    </dgm:pt>
    <dgm:pt modelId="{10DAD59F-B714-43C4-B2D3-C0BF2C6E92B3}" type="parTrans" cxnId="{DE2DE0F1-0355-4D58-8689-10CEFDE28EB2}">
      <dgm:prSet/>
      <dgm:spPr/>
      <dgm:t>
        <a:bodyPr/>
        <a:lstStyle/>
        <a:p>
          <a:endParaRPr lang="en-IN"/>
        </a:p>
      </dgm:t>
    </dgm:pt>
    <dgm:pt modelId="{270C230F-BB2B-4E44-B766-A2AB3F00DA16}" type="sibTrans" cxnId="{DE2DE0F1-0355-4D58-8689-10CEFDE28EB2}">
      <dgm:prSet/>
      <dgm:spPr/>
      <dgm:t>
        <a:bodyPr/>
        <a:lstStyle/>
        <a:p>
          <a:endParaRPr lang="en-IN"/>
        </a:p>
      </dgm:t>
    </dgm:pt>
    <dgm:pt modelId="{7CB54829-B4B3-4773-B444-AB90FF4D464A}">
      <dgm:prSet phldrT="[Text]" phldr="0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gradFill flip="none" rotWithShape="0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IN"/>
            <a:t>Ridge Vertex Positions</a:t>
          </a:r>
          <a:endParaRPr lang="en-IN" dirty="0"/>
        </a:p>
      </dgm:t>
    </dgm:pt>
    <dgm:pt modelId="{7A4FB292-BABC-479F-A8EA-32DB098E47B5}" type="parTrans" cxnId="{C9DD068A-CD0F-42F2-805B-47137C3857E6}">
      <dgm:prSet/>
      <dgm:spPr/>
      <dgm:t>
        <a:bodyPr/>
        <a:lstStyle/>
        <a:p>
          <a:endParaRPr lang="en-IN"/>
        </a:p>
      </dgm:t>
    </dgm:pt>
    <dgm:pt modelId="{8737AEA8-6EC4-4C9D-91E8-E90E9449687D}" type="sibTrans" cxnId="{C9DD068A-CD0F-42F2-805B-47137C3857E6}">
      <dgm:prSet/>
      <dgm:spPr/>
      <dgm:t>
        <a:bodyPr/>
        <a:lstStyle/>
        <a:p>
          <a:endParaRPr lang="en-IN"/>
        </a:p>
      </dgm:t>
    </dgm:pt>
    <dgm:pt modelId="{AA4908DC-40D2-470E-9778-94D28ED6AF5C}">
      <dgm:prSet phldrT="[Text]" phldr="0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gradFill flip="none" rotWithShape="0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IN" dirty="0"/>
            <a:t>Place ridge vertices</a:t>
          </a:r>
        </a:p>
      </dgm:t>
    </dgm:pt>
    <dgm:pt modelId="{B7FA3D9F-8F1C-4117-8506-B8626C97E625}" type="parTrans" cxnId="{68C61716-EB46-4A88-B447-C370E1E97F6D}">
      <dgm:prSet/>
      <dgm:spPr/>
      <dgm:t>
        <a:bodyPr/>
        <a:lstStyle/>
        <a:p>
          <a:endParaRPr lang="en-IN"/>
        </a:p>
      </dgm:t>
    </dgm:pt>
    <dgm:pt modelId="{AFC4AF6B-CD68-4274-92FA-396EC537B07E}" type="sibTrans" cxnId="{68C61716-EB46-4A88-B447-C370E1E97F6D}">
      <dgm:prSet/>
      <dgm:spPr/>
      <dgm:t>
        <a:bodyPr/>
        <a:lstStyle/>
        <a:p>
          <a:endParaRPr lang="en-IN"/>
        </a:p>
      </dgm:t>
    </dgm:pt>
    <dgm:pt modelId="{96CA9773-0674-4774-92B9-94B425AA0582}">
      <dgm:prSet phldrT="[Text]" phldr="0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gradFill flip="none" rotWithShape="0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IN"/>
            <a:t>Build roof faces</a:t>
          </a:r>
          <a:endParaRPr lang="en-IN" dirty="0"/>
        </a:p>
      </dgm:t>
    </dgm:pt>
    <dgm:pt modelId="{D3BB0BDC-E262-4768-9650-A12AF25B7FAD}" type="parTrans" cxnId="{FDDC4BE1-9FCE-4129-B87A-6E645FC64A54}">
      <dgm:prSet/>
      <dgm:spPr/>
      <dgm:t>
        <a:bodyPr/>
        <a:lstStyle/>
        <a:p>
          <a:endParaRPr lang="en-IN"/>
        </a:p>
      </dgm:t>
    </dgm:pt>
    <dgm:pt modelId="{747CFAAD-5562-414B-8576-A482F547CCA9}" type="sibTrans" cxnId="{FDDC4BE1-9FCE-4129-B87A-6E645FC64A54}">
      <dgm:prSet/>
      <dgm:spPr/>
      <dgm:t>
        <a:bodyPr/>
        <a:lstStyle/>
        <a:p>
          <a:endParaRPr lang="en-IN"/>
        </a:p>
      </dgm:t>
    </dgm:pt>
    <dgm:pt modelId="{9A3CB1A3-EABD-4F7D-A375-9E8F1A5A4A9F}">
      <dgm:prSet phldrT="[Text]" phldr="0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gradFill flip="none" rotWithShape="0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IN"/>
            <a:t>Add semantic labels</a:t>
          </a:r>
          <a:endParaRPr lang="en-IN" dirty="0"/>
        </a:p>
      </dgm:t>
    </dgm:pt>
    <dgm:pt modelId="{9C6795E9-BB0F-4CA6-B373-83BC9FE0CDCB}" type="parTrans" cxnId="{DBBA5C0C-76DA-47B9-A6CE-A8D0041373C4}">
      <dgm:prSet/>
      <dgm:spPr/>
      <dgm:t>
        <a:bodyPr/>
        <a:lstStyle/>
        <a:p>
          <a:endParaRPr lang="en-IN"/>
        </a:p>
      </dgm:t>
    </dgm:pt>
    <dgm:pt modelId="{688D0F33-B859-4E5B-8900-DEECC4492F97}" type="sibTrans" cxnId="{DBBA5C0C-76DA-47B9-A6CE-A8D0041373C4}">
      <dgm:prSet/>
      <dgm:spPr/>
      <dgm:t>
        <a:bodyPr/>
        <a:lstStyle/>
        <a:p>
          <a:endParaRPr lang="en-IN"/>
        </a:p>
      </dgm:t>
    </dgm:pt>
    <dgm:pt modelId="{5FF2D220-958C-4FAF-8CE4-D9CA9513C142}">
      <dgm:prSet phldrT="[Text]" phldr="0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gradFill flip="none" rotWithShape="0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IN" dirty="0"/>
            <a:t>LOD2.2 Building</a:t>
          </a:r>
        </a:p>
      </dgm:t>
    </dgm:pt>
    <dgm:pt modelId="{65953B43-EE7B-4108-8FC8-26745AECB616}" type="parTrans" cxnId="{526EE187-1CA5-4992-A728-F178D171B3B5}">
      <dgm:prSet/>
      <dgm:spPr/>
      <dgm:t>
        <a:bodyPr/>
        <a:lstStyle/>
        <a:p>
          <a:endParaRPr lang="en-IN"/>
        </a:p>
      </dgm:t>
    </dgm:pt>
    <dgm:pt modelId="{F5BC85CA-C20F-4206-9C94-15CCC12006D1}" type="sibTrans" cxnId="{526EE187-1CA5-4992-A728-F178D171B3B5}">
      <dgm:prSet/>
      <dgm:spPr/>
      <dgm:t>
        <a:bodyPr/>
        <a:lstStyle/>
        <a:p>
          <a:endParaRPr lang="en-IN"/>
        </a:p>
      </dgm:t>
    </dgm:pt>
    <dgm:pt modelId="{2F7E0E58-D7A2-4FE7-8E1A-D7590C3B30D0}">
      <dgm:prSet phldrT="[Text]" phldr="0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gradFill flip="none" rotWithShape="0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IN" dirty="0"/>
            <a:t>LOD1.3 Building</a:t>
          </a:r>
        </a:p>
      </dgm:t>
    </dgm:pt>
    <dgm:pt modelId="{56EEB360-497F-453F-ADB5-567DC3D9F89C}" type="parTrans" cxnId="{A88EC9E3-257F-4E0E-9B4C-BC283D1476D5}">
      <dgm:prSet/>
      <dgm:spPr/>
      <dgm:t>
        <a:bodyPr/>
        <a:lstStyle/>
        <a:p>
          <a:endParaRPr lang="en-IN"/>
        </a:p>
      </dgm:t>
    </dgm:pt>
    <dgm:pt modelId="{0ADCE7C5-2D32-4D53-8045-DBD28B4EEA76}" type="sibTrans" cxnId="{A88EC9E3-257F-4E0E-9B4C-BC283D1476D5}">
      <dgm:prSet/>
      <dgm:spPr/>
      <dgm:t>
        <a:bodyPr/>
        <a:lstStyle/>
        <a:p>
          <a:endParaRPr lang="en-IN"/>
        </a:p>
      </dgm:t>
    </dgm:pt>
    <dgm:pt modelId="{744BC1BF-2905-43AB-925B-86EEA611F112}" type="pres">
      <dgm:prSet presAssocID="{71F59828-60E3-4BEE-A47B-EC76A1523CA5}" presName="Name0" presStyleCnt="0">
        <dgm:presLayoutVars>
          <dgm:dir/>
          <dgm:resizeHandles val="exact"/>
        </dgm:presLayoutVars>
      </dgm:prSet>
      <dgm:spPr/>
    </dgm:pt>
    <dgm:pt modelId="{91597C84-00A1-4BFC-8B59-A162E35CC346}" type="pres">
      <dgm:prSet presAssocID="{895584C3-6B6C-4F72-88B7-3638649561FF}" presName="node" presStyleLbl="node1" presStyleIdx="0" presStyleCnt="6" custScaleX="100001" custScaleY="100001">
        <dgm:presLayoutVars>
          <dgm:bulletEnabled val="1"/>
        </dgm:presLayoutVars>
      </dgm:prSet>
      <dgm:spPr/>
    </dgm:pt>
    <dgm:pt modelId="{425BB143-9261-4AED-9681-5306CDF85AB5}" type="pres">
      <dgm:prSet presAssocID="{07D754C4-5787-4653-B07C-6D08EDC9D1DC}" presName="sibTrans" presStyleLbl="sibTrans2D1" presStyleIdx="0" presStyleCnt="5"/>
      <dgm:spPr/>
    </dgm:pt>
    <dgm:pt modelId="{06D8C9FA-9C69-41FC-954C-45F116417F5F}" type="pres">
      <dgm:prSet presAssocID="{07D754C4-5787-4653-B07C-6D08EDC9D1DC}" presName="connectorText" presStyleLbl="sibTrans2D1" presStyleIdx="0" presStyleCnt="5"/>
      <dgm:spPr/>
    </dgm:pt>
    <dgm:pt modelId="{319AFA9D-86C4-4063-9340-731BB74029CB}" type="pres">
      <dgm:prSet presAssocID="{91E3BC05-57B2-4402-90A6-B4DB9F66B08E}" presName="node" presStyleLbl="node1" presStyleIdx="1" presStyleCnt="6" custLinFactNeighborX="55297" custLinFactNeighborY="0">
        <dgm:presLayoutVars>
          <dgm:bulletEnabled val="1"/>
        </dgm:presLayoutVars>
      </dgm:prSet>
      <dgm:spPr/>
    </dgm:pt>
    <dgm:pt modelId="{89CA5255-4718-4D88-801C-6C652D64454E}" type="pres">
      <dgm:prSet presAssocID="{C03BE8B5-B40D-4C10-889A-6272966BBEE9}" presName="sibTrans" presStyleLbl="sibTrans2D1" presStyleIdx="1" presStyleCnt="5"/>
      <dgm:spPr/>
    </dgm:pt>
    <dgm:pt modelId="{9A5E8ECF-1A7A-46D8-AC7F-1F19FD22696D}" type="pres">
      <dgm:prSet presAssocID="{C03BE8B5-B40D-4C10-889A-6272966BBEE9}" presName="connectorText" presStyleLbl="sibTrans2D1" presStyleIdx="1" presStyleCnt="5"/>
      <dgm:spPr/>
    </dgm:pt>
    <dgm:pt modelId="{91FD251E-7689-4CC7-885A-7166E6C2D18E}" type="pres">
      <dgm:prSet presAssocID="{BF9E06AE-901B-4735-86B5-39E731D2BEC2}" presName="node" presStyleLbl="node1" presStyleIdx="2" presStyleCnt="6" custLinFactX="30000" custLinFactNeighborX="100000" custLinFactNeighborY="-98467">
        <dgm:presLayoutVars>
          <dgm:bulletEnabled val="1"/>
        </dgm:presLayoutVars>
      </dgm:prSet>
      <dgm:spPr/>
    </dgm:pt>
    <dgm:pt modelId="{439B774E-5BBC-4723-8C95-5A6091638211}" type="pres">
      <dgm:prSet presAssocID="{89F98C28-B441-4A67-9B8B-5EEEECDACB30}" presName="sibTrans" presStyleLbl="sibTrans2D1" presStyleIdx="2" presStyleCnt="5"/>
      <dgm:spPr/>
    </dgm:pt>
    <dgm:pt modelId="{C4070C6F-B8CA-4C80-9E7B-33C11D23B99A}" type="pres">
      <dgm:prSet presAssocID="{89F98C28-B441-4A67-9B8B-5EEEECDACB30}" presName="connectorText" presStyleLbl="sibTrans2D1" presStyleIdx="2" presStyleCnt="5"/>
      <dgm:spPr/>
    </dgm:pt>
    <dgm:pt modelId="{7DD8BF61-B0A7-41CA-A910-7DD7A915DB68}" type="pres">
      <dgm:prSet presAssocID="{3241B454-2110-440D-9016-E59F5B2B7285}" presName="node" presStyleLbl="node1" presStyleIdx="3" presStyleCnt="6" custLinFactX="-30000" custLinFactNeighborX="-100000" custLinFactNeighborY="96736">
        <dgm:presLayoutVars>
          <dgm:bulletEnabled val="1"/>
        </dgm:presLayoutVars>
      </dgm:prSet>
      <dgm:spPr/>
    </dgm:pt>
    <dgm:pt modelId="{6676BD92-7142-4023-B8D6-FA1B145ACABD}" type="pres">
      <dgm:prSet presAssocID="{E822CE25-7B2F-462C-90C2-0CF712FEEB66}" presName="sibTrans" presStyleLbl="sibTrans2D1" presStyleIdx="3" presStyleCnt="5"/>
      <dgm:spPr/>
    </dgm:pt>
    <dgm:pt modelId="{46BBD968-8287-4233-9C6C-B57E5C761041}" type="pres">
      <dgm:prSet presAssocID="{E822CE25-7B2F-462C-90C2-0CF712FEEB66}" presName="connectorText" presStyleLbl="sibTrans2D1" presStyleIdx="3" presStyleCnt="5"/>
      <dgm:spPr/>
    </dgm:pt>
    <dgm:pt modelId="{D742FC8C-DBEC-4FDB-8FCD-33D874AC93FF}" type="pres">
      <dgm:prSet presAssocID="{857DC2D8-CAB1-4135-9F0E-79E41551CC7A}" presName="node" presStyleLbl="node1" presStyleIdx="4" presStyleCnt="6" custLinFactNeighborX="-70551" custLinFactNeighborY="0">
        <dgm:presLayoutVars>
          <dgm:bulletEnabled val="1"/>
        </dgm:presLayoutVars>
      </dgm:prSet>
      <dgm:spPr/>
    </dgm:pt>
    <dgm:pt modelId="{46EE80D5-C20F-42BC-8EC5-23DF76184F17}" type="pres">
      <dgm:prSet presAssocID="{D183DDA7-D551-43C1-A6FC-92DAF06901AD}" presName="sibTrans" presStyleLbl="sibTrans2D1" presStyleIdx="4" presStyleCnt="5"/>
      <dgm:spPr/>
    </dgm:pt>
    <dgm:pt modelId="{32DDF7D1-B6F9-4750-99F1-FDEEECDDF270}" type="pres">
      <dgm:prSet presAssocID="{D183DDA7-D551-43C1-A6FC-92DAF06901AD}" presName="connectorText" presStyleLbl="sibTrans2D1" presStyleIdx="4" presStyleCnt="5"/>
      <dgm:spPr/>
    </dgm:pt>
    <dgm:pt modelId="{E49444D5-4897-4DF9-93CB-F521858BB5BF}" type="pres">
      <dgm:prSet presAssocID="{432CA573-C422-494C-ADC0-9254D1493902}" presName="node" presStyleLbl="node1" presStyleIdx="5" presStyleCnt="6">
        <dgm:presLayoutVars>
          <dgm:bulletEnabled val="1"/>
        </dgm:presLayoutVars>
      </dgm:prSet>
      <dgm:spPr/>
    </dgm:pt>
  </dgm:ptLst>
  <dgm:cxnLst>
    <dgm:cxn modelId="{1348B701-9934-4A7A-9F9D-28F80A39B392}" type="presOf" srcId="{D183DDA7-D551-43C1-A6FC-92DAF06901AD}" destId="{46EE80D5-C20F-42BC-8EC5-23DF76184F17}" srcOrd="0" destOrd="0" presId="urn:microsoft.com/office/officeart/2005/8/layout/process1"/>
    <dgm:cxn modelId="{02CFC401-174C-41D0-BFED-32E6B147FD9B}" type="presOf" srcId="{89F98C28-B441-4A67-9B8B-5EEEECDACB30}" destId="{C4070C6F-B8CA-4C80-9E7B-33C11D23B99A}" srcOrd="1" destOrd="0" presId="urn:microsoft.com/office/officeart/2005/8/layout/process1"/>
    <dgm:cxn modelId="{48687204-99D0-42ED-BA83-C99A059E2320}" type="presOf" srcId="{7CB54829-B4B3-4773-B444-AB90FF4D464A}" destId="{7DD8BF61-B0A7-41CA-A910-7DD7A915DB68}" srcOrd="0" destOrd="2" presId="urn:microsoft.com/office/officeart/2005/8/layout/process1"/>
    <dgm:cxn modelId="{AC462B05-5D59-4EB9-AEC1-58C23BF18075}" type="presOf" srcId="{4B3BE247-37BF-40E7-AC6E-90FBD731CAE5}" destId="{319AFA9D-86C4-4063-9340-731BB74029CB}" srcOrd="0" destOrd="1" presId="urn:microsoft.com/office/officeart/2005/8/layout/process1"/>
    <dgm:cxn modelId="{CD5BD707-5B93-4E13-BDB5-A79D3D39A50F}" type="presOf" srcId="{07D754C4-5787-4653-B07C-6D08EDC9D1DC}" destId="{06D8C9FA-9C69-41FC-954C-45F116417F5F}" srcOrd="1" destOrd="0" presId="urn:microsoft.com/office/officeart/2005/8/layout/process1"/>
    <dgm:cxn modelId="{DBBA5C0C-76DA-47B9-A6CE-A8D0041373C4}" srcId="{857DC2D8-CAB1-4135-9F0E-79E41551CC7A}" destId="{9A3CB1A3-EABD-4F7D-A375-9E8F1A5A4A9F}" srcOrd="2" destOrd="0" parTransId="{9C6795E9-BB0F-4CA6-B373-83BC9FE0CDCB}" sibTransId="{688D0F33-B859-4E5B-8900-DEECC4492F97}"/>
    <dgm:cxn modelId="{68C61716-EB46-4A88-B447-C370E1E97F6D}" srcId="{857DC2D8-CAB1-4135-9F0E-79E41551CC7A}" destId="{AA4908DC-40D2-470E-9778-94D28ED6AF5C}" srcOrd="0" destOrd="0" parTransId="{B7FA3D9F-8F1C-4117-8506-B8626C97E625}" sibTransId="{AFC4AF6B-CD68-4274-92FA-396EC537B07E}"/>
    <dgm:cxn modelId="{86A00F1B-21FC-4036-B606-FF7D973C799F}" type="presOf" srcId="{C03BE8B5-B40D-4C10-889A-6272966BBEE9}" destId="{9A5E8ECF-1A7A-46D8-AC7F-1F19FD22696D}" srcOrd="1" destOrd="0" presId="urn:microsoft.com/office/officeart/2005/8/layout/process1"/>
    <dgm:cxn modelId="{0F961C20-7C93-40A8-8CE0-9D4758C2A9FC}" type="presOf" srcId="{857DC2D8-CAB1-4135-9F0E-79E41551CC7A}" destId="{D742FC8C-DBEC-4FDB-8FCD-33D874AC93FF}" srcOrd="0" destOrd="0" presId="urn:microsoft.com/office/officeart/2005/8/layout/process1"/>
    <dgm:cxn modelId="{79AE5F28-0BF7-4757-80A5-7E64A83CF77A}" type="presOf" srcId="{432CA573-C422-494C-ADC0-9254D1493902}" destId="{E49444D5-4897-4DF9-93CB-F521858BB5BF}" srcOrd="0" destOrd="0" presId="urn:microsoft.com/office/officeart/2005/8/layout/process1"/>
    <dgm:cxn modelId="{E4C39A33-9300-4B53-80B3-419D847E121D}" srcId="{71F59828-60E3-4BEE-A47B-EC76A1523CA5}" destId="{BF9E06AE-901B-4735-86B5-39E731D2BEC2}" srcOrd="2" destOrd="0" parTransId="{07579A13-2C09-4B0D-9E04-CD0E1C095A09}" sibTransId="{89F98C28-B441-4A67-9B8B-5EEEECDACB30}"/>
    <dgm:cxn modelId="{10FE1435-8485-4EC6-BF04-7D74FDCC2A1A}" srcId="{91E3BC05-57B2-4402-90A6-B4DB9F66B08E}" destId="{4B3BE247-37BF-40E7-AC6E-90FBD731CAE5}" srcOrd="0" destOrd="0" parTransId="{07E4B248-44F5-4783-AAE1-69B83D2ADA1F}" sibTransId="{E5FAAFB4-2DFE-4536-B29C-3E4131964EA9}"/>
    <dgm:cxn modelId="{49E2173B-10BB-42B5-9570-454F0B7D951B}" type="presOf" srcId="{895584C3-6B6C-4F72-88B7-3638649561FF}" destId="{91597C84-00A1-4BFC-8B59-A162E35CC346}" srcOrd="0" destOrd="0" presId="urn:microsoft.com/office/officeart/2005/8/layout/process1"/>
    <dgm:cxn modelId="{1E37DA3F-D7D3-47A6-8AAA-B75D18EE47A7}" type="presOf" srcId="{71F59828-60E3-4BEE-A47B-EC76A1523CA5}" destId="{744BC1BF-2905-43AB-925B-86EEA611F112}" srcOrd="0" destOrd="0" presId="urn:microsoft.com/office/officeart/2005/8/layout/process1"/>
    <dgm:cxn modelId="{CD1FE340-4A6A-4875-B439-A2AE2FC52E85}" type="presOf" srcId="{91E3BC05-57B2-4402-90A6-B4DB9F66B08E}" destId="{319AFA9D-86C4-4063-9340-731BB74029CB}" srcOrd="0" destOrd="0" presId="urn:microsoft.com/office/officeart/2005/8/layout/process1"/>
    <dgm:cxn modelId="{2E16CA5E-2853-4B86-9239-AEE0A2D07024}" type="presOf" srcId="{5FF2D220-958C-4FAF-8CE4-D9CA9513C142}" destId="{E49444D5-4897-4DF9-93CB-F521858BB5BF}" srcOrd="0" destOrd="1" presId="urn:microsoft.com/office/officeart/2005/8/layout/process1"/>
    <dgm:cxn modelId="{EFB33F61-7D57-441C-B16E-81E1990D9447}" type="presOf" srcId="{AA4908DC-40D2-470E-9778-94D28ED6AF5C}" destId="{D742FC8C-DBEC-4FDB-8FCD-33D874AC93FF}" srcOrd="0" destOrd="1" presId="urn:microsoft.com/office/officeart/2005/8/layout/process1"/>
    <dgm:cxn modelId="{9A7AB164-4AD7-46E8-93DA-F24D87E3D615}" type="presOf" srcId="{BF9E06AE-901B-4735-86B5-39E731D2BEC2}" destId="{91FD251E-7689-4CC7-885A-7166E6C2D18E}" srcOrd="0" destOrd="0" presId="urn:microsoft.com/office/officeart/2005/8/layout/process1"/>
    <dgm:cxn modelId="{14457F68-615A-449F-9D6B-8FFD4466CB16}" srcId="{BF9E06AE-901B-4735-86B5-39E731D2BEC2}" destId="{E7E2ADBE-C5DE-4E4A-875B-3704ABD3568F}" srcOrd="0" destOrd="0" parTransId="{00770978-E7B0-4B1D-87CB-07EB216A4673}" sibTransId="{59300FDE-A9F2-4FA5-9AB8-BA858A3423BC}"/>
    <dgm:cxn modelId="{6AAA9A48-9C52-4313-8939-92A61289CC5C}" type="presOf" srcId="{D183DDA7-D551-43C1-A6FC-92DAF06901AD}" destId="{32DDF7D1-B6F9-4750-99F1-FDEEECDDF270}" srcOrd="1" destOrd="0" presId="urn:microsoft.com/office/officeart/2005/8/layout/process1"/>
    <dgm:cxn modelId="{02245F4A-DA79-432F-917E-FE9CC5F86FD5}" srcId="{71F59828-60E3-4BEE-A47B-EC76A1523CA5}" destId="{432CA573-C422-494C-ADC0-9254D1493902}" srcOrd="5" destOrd="0" parTransId="{6F78BAA3-48D7-4F10-A785-90E155E1C206}" sibTransId="{C6C80C34-7655-453C-8EC8-81B0413EAF2F}"/>
    <dgm:cxn modelId="{4CE0E44A-17A2-48C1-B69D-9F0D251BB6A1}" type="presOf" srcId="{9A3CB1A3-EABD-4F7D-A375-9E8F1A5A4A9F}" destId="{D742FC8C-DBEC-4FDB-8FCD-33D874AC93FF}" srcOrd="0" destOrd="3" presId="urn:microsoft.com/office/officeart/2005/8/layout/process1"/>
    <dgm:cxn modelId="{69E1FC78-C4C2-4F46-9205-D19F8C8D3235}" type="presOf" srcId="{96CA9773-0674-4774-92B9-94B425AA0582}" destId="{D742FC8C-DBEC-4FDB-8FCD-33D874AC93FF}" srcOrd="0" destOrd="2" presId="urn:microsoft.com/office/officeart/2005/8/layout/process1"/>
    <dgm:cxn modelId="{DFEE477E-DBBD-47BA-91C5-DDDEE17805EE}" type="presOf" srcId="{9BE2C774-36DB-408B-BF02-BC5B5DDF700B}" destId="{91FD251E-7689-4CC7-885A-7166E6C2D18E}" srcOrd="0" destOrd="2" presId="urn:microsoft.com/office/officeart/2005/8/layout/process1"/>
    <dgm:cxn modelId="{526EE187-1CA5-4992-A728-F178D171B3B5}" srcId="{432CA573-C422-494C-ADC0-9254D1493902}" destId="{5FF2D220-958C-4FAF-8CE4-D9CA9513C142}" srcOrd="0" destOrd="0" parTransId="{65953B43-EE7B-4108-8FC8-26745AECB616}" sibTransId="{F5BC85CA-C20F-4206-9C94-15CCC12006D1}"/>
    <dgm:cxn modelId="{C9DD068A-CD0F-42F2-805B-47137C3857E6}" srcId="{3241B454-2110-440D-9016-E59F5B2B7285}" destId="{7CB54829-B4B3-4773-B444-AB90FF4D464A}" srcOrd="1" destOrd="0" parTransId="{7A4FB292-BABC-479F-A8EA-32DB098E47B5}" sibTransId="{8737AEA8-6EC4-4C9D-91E8-E90E9449687D}"/>
    <dgm:cxn modelId="{5296008F-0146-4E67-96C8-D5E31A7DE537}" type="presOf" srcId="{07D754C4-5787-4653-B07C-6D08EDC9D1DC}" destId="{425BB143-9261-4AED-9681-5306CDF85AB5}" srcOrd="0" destOrd="0" presId="urn:microsoft.com/office/officeart/2005/8/layout/process1"/>
    <dgm:cxn modelId="{DEE6DD95-5048-4CBD-8955-3EE0A68E3802}" type="presOf" srcId="{E7E2ADBE-C5DE-4E4A-875B-3704ABD3568F}" destId="{91FD251E-7689-4CC7-885A-7166E6C2D18E}" srcOrd="0" destOrd="1" presId="urn:microsoft.com/office/officeart/2005/8/layout/process1"/>
    <dgm:cxn modelId="{EA1C7B9E-A7E5-447F-8A5B-18CC1F71A4E4}" type="presOf" srcId="{3241B454-2110-440D-9016-E59F5B2B7285}" destId="{7DD8BF61-B0A7-41CA-A910-7DD7A915DB68}" srcOrd="0" destOrd="0" presId="urn:microsoft.com/office/officeart/2005/8/layout/process1"/>
    <dgm:cxn modelId="{4BEFDC9F-F3EE-413C-AADE-912ACEC35460}" type="presOf" srcId="{2F7E0E58-D7A2-4FE7-8E1A-D7590C3B30D0}" destId="{91597C84-00A1-4BFC-8B59-A162E35CC346}" srcOrd="0" destOrd="1" presId="urn:microsoft.com/office/officeart/2005/8/layout/process1"/>
    <dgm:cxn modelId="{430D16A4-9688-4B85-BD11-449287671BD8}" type="presOf" srcId="{E822CE25-7B2F-462C-90C2-0CF712FEEB66}" destId="{6676BD92-7142-4023-B8D6-FA1B145ACABD}" srcOrd="0" destOrd="0" presId="urn:microsoft.com/office/officeart/2005/8/layout/process1"/>
    <dgm:cxn modelId="{5CBAAAB2-606C-4E3B-AF19-D7456B7F994F}" type="presOf" srcId="{E822CE25-7B2F-462C-90C2-0CF712FEEB66}" destId="{46BBD968-8287-4233-9C6C-B57E5C761041}" srcOrd="1" destOrd="0" presId="urn:microsoft.com/office/officeart/2005/8/layout/process1"/>
    <dgm:cxn modelId="{D29494B5-53D9-4764-BE39-759C3CBCD162}" srcId="{71F59828-60E3-4BEE-A47B-EC76A1523CA5}" destId="{91E3BC05-57B2-4402-90A6-B4DB9F66B08E}" srcOrd="1" destOrd="0" parTransId="{C3BEAB52-737B-413B-A12D-B32E29D88206}" sibTransId="{C03BE8B5-B40D-4C10-889A-6272966BBEE9}"/>
    <dgm:cxn modelId="{CFE6C3C5-7BDD-40B5-8660-D4BB33C43CC3}" srcId="{BF9E06AE-901B-4735-86B5-39E731D2BEC2}" destId="{9BE2C774-36DB-408B-BF02-BC5B5DDF700B}" srcOrd="1" destOrd="0" parTransId="{03A6A06B-6F5C-4841-95D3-9AC2377DFC92}" sibTransId="{D62525F4-E136-4C01-B378-A1ABA52B1196}"/>
    <dgm:cxn modelId="{BDCBCBC5-8416-4546-9113-8F6AE21E5847}" srcId="{71F59828-60E3-4BEE-A47B-EC76A1523CA5}" destId="{3241B454-2110-440D-9016-E59F5B2B7285}" srcOrd="3" destOrd="0" parTransId="{ECED0E2A-59F1-4E3D-A6EC-1A45DED37C59}" sibTransId="{E822CE25-7B2F-462C-90C2-0CF712FEEB66}"/>
    <dgm:cxn modelId="{B43E7ADF-2B52-4610-9258-CA681242500A}" type="presOf" srcId="{89F98C28-B441-4A67-9B8B-5EEEECDACB30}" destId="{439B774E-5BBC-4723-8C95-5A6091638211}" srcOrd="0" destOrd="0" presId="urn:microsoft.com/office/officeart/2005/8/layout/process1"/>
    <dgm:cxn modelId="{FDDC4BE1-9FCE-4129-B87A-6E645FC64A54}" srcId="{857DC2D8-CAB1-4135-9F0E-79E41551CC7A}" destId="{96CA9773-0674-4774-92B9-94B425AA0582}" srcOrd="1" destOrd="0" parTransId="{D3BB0BDC-E262-4768-9650-A12AF25B7FAD}" sibTransId="{747CFAAD-5562-414B-8576-A482F547CCA9}"/>
    <dgm:cxn modelId="{65E3E3E1-CC4A-4F4D-943A-0EFC0091F4FD}" type="presOf" srcId="{C03BE8B5-B40D-4C10-889A-6272966BBEE9}" destId="{89CA5255-4718-4D88-801C-6C652D64454E}" srcOrd="0" destOrd="0" presId="urn:microsoft.com/office/officeart/2005/8/layout/process1"/>
    <dgm:cxn modelId="{A88EC9E3-257F-4E0E-9B4C-BC283D1476D5}" srcId="{895584C3-6B6C-4F72-88B7-3638649561FF}" destId="{2F7E0E58-D7A2-4FE7-8E1A-D7590C3B30D0}" srcOrd="0" destOrd="0" parTransId="{56EEB360-497F-453F-ADB5-567DC3D9F89C}" sibTransId="{0ADCE7C5-2D32-4D53-8045-DBD28B4EEA76}"/>
    <dgm:cxn modelId="{DE2DE0F1-0355-4D58-8689-10CEFDE28EB2}" srcId="{3241B454-2110-440D-9016-E59F5B2B7285}" destId="{D50D1262-6634-4271-8330-01FDA275F984}" srcOrd="0" destOrd="0" parTransId="{10DAD59F-B714-43C4-B2D3-C0BF2C6E92B3}" sibTransId="{270C230F-BB2B-4E44-B766-A2AB3F00DA16}"/>
    <dgm:cxn modelId="{9504C9F4-38CD-41DE-B38F-597E94F6F66A}" type="presOf" srcId="{D50D1262-6634-4271-8330-01FDA275F984}" destId="{7DD8BF61-B0A7-41CA-A910-7DD7A915DB68}" srcOrd="0" destOrd="1" presId="urn:microsoft.com/office/officeart/2005/8/layout/process1"/>
    <dgm:cxn modelId="{B984C4F7-A2D4-401B-881D-644DF5E628E2}" srcId="{71F59828-60E3-4BEE-A47B-EC76A1523CA5}" destId="{895584C3-6B6C-4F72-88B7-3638649561FF}" srcOrd="0" destOrd="0" parTransId="{BE986448-AD1B-4622-AF8A-5403E99A10BB}" sibTransId="{07D754C4-5787-4653-B07C-6D08EDC9D1DC}"/>
    <dgm:cxn modelId="{CF3CE7FC-6F65-410B-8198-0BD565BBF644}" srcId="{71F59828-60E3-4BEE-A47B-EC76A1523CA5}" destId="{857DC2D8-CAB1-4135-9F0E-79E41551CC7A}" srcOrd="4" destOrd="0" parTransId="{FF7DD7F9-2771-49B5-8C65-A45224B691ED}" sibTransId="{D183DDA7-D551-43C1-A6FC-92DAF06901AD}"/>
    <dgm:cxn modelId="{33F11FD7-4DD1-4C50-82E2-72D7CB3D3569}" type="presParOf" srcId="{744BC1BF-2905-43AB-925B-86EEA611F112}" destId="{91597C84-00A1-4BFC-8B59-A162E35CC346}" srcOrd="0" destOrd="0" presId="urn:microsoft.com/office/officeart/2005/8/layout/process1"/>
    <dgm:cxn modelId="{362763DD-B42E-43AD-B48C-911AA59FBD07}" type="presParOf" srcId="{744BC1BF-2905-43AB-925B-86EEA611F112}" destId="{425BB143-9261-4AED-9681-5306CDF85AB5}" srcOrd="1" destOrd="0" presId="urn:microsoft.com/office/officeart/2005/8/layout/process1"/>
    <dgm:cxn modelId="{F005A39D-EA5A-4F6E-8086-AD06ED2DA7A7}" type="presParOf" srcId="{425BB143-9261-4AED-9681-5306CDF85AB5}" destId="{06D8C9FA-9C69-41FC-954C-45F116417F5F}" srcOrd="0" destOrd="0" presId="urn:microsoft.com/office/officeart/2005/8/layout/process1"/>
    <dgm:cxn modelId="{C92E755C-4766-4CAB-A4A4-8C765FDE9C15}" type="presParOf" srcId="{744BC1BF-2905-43AB-925B-86EEA611F112}" destId="{319AFA9D-86C4-4063-9340-731BB74029CB}" srcOrd="2" destOrd="0" presId="urn:microsoft.com/office/officeart/2005/8/layout/process1"/>
    <dgm:cxn modelId="{C8B5BDA1-5AA4-4BCD-BFEF-A8B5B92A3F6D}" type="presParOf" srcId="{744BC1BF-2905-43AB-925B-86EEA611F112}" destId="{89CA5255-4718-4D88-801C-6C652D64454E}" srcOrd="3" destOrd="0" presId="urn:microsoft.com/office/officeart/2005/8/layout/process1"/>
    <dgm:cxn modelId="{22F206F9-1CC4-482F-B925-A319F5E00DAE}" type="presParOf" srcId="{89CA5255-4718-4D88-801C-6C652D64454E}" destId="{9A5E8ECF-1A7A-46D8-AC7F-1F19FD22696D}" srcOrd="0" destOrd="0" presId="urn:microsoft.com/office/officeart/2005/8/layout/process1"/>
    <dgm:cxn modelId="{DAC776A8-BB53-4995-B873-5E111F8B60E4}" type="presParOf" srcId="{744BC1BF-2905-43AB-925B-86EEA611F112}" destId="{91FD251E-7689-4CC7-885A-7166E6C2D18E}" srcOrd="4" destOrd="0" presId="urn:microsoft.com/office/officeart/2005/8/layout/process1"/>
    <dgm:cxn modelId="{5D001E28-3938-4E93-B41C-F53E6C849667}" type="presParOf" srcId="{744BC1BF-2905-43AB-925B-86EEA611F112}" destId="{439B774E-5BBC-4723-8C95-5A6091638211}" srcOrd="5" destOrd="0" presId="urn:microsoft.com/office/officeart/2005/8/layout/process1"/>
    <dgm:cxn modelId="{BBA4326E-4793-45AA-9C34-F26A0C4FF1A2}" type="presParOf" srcId="{439B774E-5BBC-4723-8C95-5A6091638211}" destId="{C4070C6F-B8CA-4C80-9E7B-33C11D23B99A}" srcOrd="0" destOrd="0" presId="urn:microsoft.com/office/officeart/2005/8/layout/process1"/>
    <dgm:cxn modelId="{C5B0151D-78A9-474B-A03B-DE4D6375029F}" type="presParOf" srcId="{744BC1BF-2905-43AB-925B-86EEA611F112}" destId="{7DD8BF61-B0A7-41CA-A910-7DD7A915DB68}" srcOrd="6" destOrd="0" presId="urn:microsoft.com/office/officeart/2005/8/layout/process1"/>
    <dgm:cxn modelId="{1B799929-DFAB-41E8-95B3-1EF5F77EC7B4}" type="presParOf" srcId="{744BC1BF-2905-43AB-925B-86EEA611F112}" destId="{6676BD92-7142-4023-B8D6-FA1B145ACABD}" srcOrd="7" destOrd="0" presId="urn:microsoft.com/office/officeart/2005/8/layout/process1"/>
    <dgm:cxn modelId="{001FF7C5-1A99-49FC-8EB6-D960253298E1}" type="presParOf" srcId="{6676BD92-7142-4023-B8D6-FA1B145ACABD}" destId="{46BBD968-8287-4233-9C6C-B57E5C761041}" srcOrd="0" destOrd="0" presId="urn:microsoft.com/office/officeart/2005/8/layout/process1"/>
    <dgm:cxn modelId="{398FE55E-B181-40E6-A4FE-B34AFF366D1E}" type="presParOf" srcId="{744BC1BF-2905-43AB-925B-86EEA611F112}" destId="{D742FC8C-DBEC-4FDB-8FCD-33D874AC93FF}" srcOrd="8" destOrd="0" presId="urn:microsoft.com/office/officeart/2005/8/layout/process1"/>
    <dgm:cxn modelId="{F31596CC-3E14-45C6-A393-6A3F7BD5CBC6}" type="presParOf" srcId="{744BC1BF-2905-43AB-925B-86EEA611F112}" destId="{46EE80D5-C20F-42BC-8EC5-23DF76184F17}" srcOrd="9" destOrd="0" presId="urn:microsoft.com/office/officeart/2005/8/layout/process1"/>
    <dgm:cxn modelId="{6149C441-166F-47C5-A80C-20F2C6D28EE3}" type="presParOf" srcId="{46EE80D5-C20F-42BC-8EC5-23DF76184F17}" destId="{32DDF7D1-B6F9-4750-99F1-FDEEECDDF270}" srcOrd="0" destOrd="0" presId="urn:microsoft.com/office/officeart/2005/8/layout/process1"/>
    <dgm:cxn modelId="{5614A6FE-6B7A-41AF-97DB-536BF17FAE64}" type="presParOf" srcId="{744BC1BF-2905-43AB-925B-86EEA611F112}" destId="{E49444D5-4897-4DF9-93CB-F521858BB5BF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597C84-00A1-4BFC-8B59-A162E35CC346}">
      <dsp:nvSpPr>
        <dsp:cNvPr id="0" name=""/>
        <dsp:cNvSpPr/>
      </dsp:nvSpPr>
      <dsp:spPr>
        <a:xfrm>
          <a:off x="3963" y="2109680"/>
          <a:ext cx="1015017" cy="1199305"/>
        </a:xfrm>
        <a:prstGeom prst="roundRect">
          <a:avLst>
            <a:gd name="adj" fmla="val 10000"/>
          </a:avLst>
        </a:prstGeom>
        <a:gradFill flip="none" rotWithShape="0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path path="circle">
            <a:fillToRect l="50000" t="50000" r="50000" b="50000"/>
          </a:path>
          <a:tileRect/>
        </a:gradFill>
        <a:ln w="12700" cap="flat" cmpd="sng" algn="ctr">
          <a:solidFill>
            <a:schemeClr val="accent1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CityJSON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LOD1.3 Building</a:t>
          </a:r>
        </a:p>
      </dsp:txBody>
      <dsp:txXfrm>
        <a:off x="33692" y="2139409"/>
        <a:ext cx="955559" cy="1139847"/>
      </dsp:txXfrm>
    </dsp:sp>
    <dsp:sp modelId="{425BB143-9261-4AED-9681-5306CDF85AB5}">
      <dsp:nvSpPr>
        <dsp:cNvPr id="0" name=""/>
        <dsp:cNvSpPr/>
      </dsp:nvSpPr>
      <dsp:spPr>
        <a:xfrm>
          <a:off x="1176609" y="2583472"/>
          <a:ext cx="334170" cy="251721"/>
        </a:xfrm>
        <a:prstGeom prst="rightArrow">
          <a:avLst>
            <a:gd name="adj1" fmla="val 60000"/>
            <a:gd name="adj2" fmla="val 50000"/>
          </a:avLst>
        </a:prstGeom>
        <a:gradFill rotWithShape="1">
          <a:gsLst>
            <a:gs pos="0">
              <a:schemeClr val="dk1">
                <a:satMod val="103000"/>
                <a:lumMod val="102000"/>
                <a:tint val="94000"/>
              </a:schemeClr>
            </a:gs>
            <a:gs pos="50000">
              <a:schemeClr val="dk1">
                <a:satMod val="110000"/>
                <a:lumMod val="100000"/>
                <a:shade val="100000"/>
              </a:schemeClr>
            </a:gs>
            <a:gs pos="100000">
              <a:schemeClr val="dk1"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1">
          <a:schemeClr val="dk1"/>
        </a:lnRef>
        <a:fillRef idx="3">
          <a:schemeClr val="dk1"/>
        </a:fillRef>
        <a:effectRef idx="2">
          <a:schemeClr val="dk1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1176609" y="2633816"/>
        <a:ext cx="258654" cy="151033"/>
      </dsp:txXfrm>
    </dsp:sp>
    <dsp:sp modelId="{319AFA9D-86C4-4063-9340-731BB74029CB}">
      <dsp:nvSpPr>
        <dsp:cNvPr id="0" name=""/>
        <dsp:cNvSpPr/>
      </dsp:nvSpPr>
      <dsp:spPr>
        <a:xfrm>
          <a:off x="1649492" y="2109686"/>
          <a:ext cx="1015007" cy="1199293"/>
        </a:xfrm>
        <a:prstGeom prst="roundRect">
          <a:avLst>
            <a:gd name="adj" fmla="val 10000"/>
          </a:avLst>
        </a:prstGeom>
        <a:gradFill flip="none" rotWithShape="0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path path="circle">
            <a:fillToRect l="50000" t="50000" r="50000" b="50000"/>
          </a:path>
          <a:tileRect/>
        </a:gradFill>
        <a:ln w="12700" cap="flat" cmpd="sng" algn="ctr">
          <a:solidFill>
            <a:schemeClr val="accent2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Feature Extraction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7 Features from LOD1.3 Geometry</a:t>
          </a:r>
        </a:p>
      </dsp:txBody>
      <dsp:txXfrm>
        <a:off x="1679221" y="2139415"/>
        <a:ext cx="955549" cy="1139835"/>
      </dsp:txXfrm>
    </dsp:sp>
    <dsp:sp modelId="{89CA5255-4718-4D88-801C-6C652D64454E}">
      <dsp:nvSpPr>
        <dsp:cNvPr id="0" name=""/>
        <dsp:cNvSpPr/>
      </dsp:nvSpPr>
      <dsp:spPr>
        <a:xfrm rot="19693937">
          <a:off x="2845848" y="1984732"/>
          <a:ext cx="556064" cy="251721"/>
        </a:xfrm>
        <a:prstGeom prst="rightArrow">
          <a:avLst>
            <a:gd name="adj1" fmla="val 60000"/>
            <a:gd name="adj2" fmla="val 50000"/>
          </a:avLst>
        </a:prstGeom>
        <a:gradFill rotWithShape="1">
          <a:gsLst>
            <a:gs pos="0">
              <a:schemeClr val="dk1">
                <a:satMod val="103000"/>
                <a:lumMod val="102000"/>
                <a:tint val="94000"/>
              </a:schemeClr>
            </a:gs>
            <a:gs pos="50000">
              <a:schemeClr val="dk1">
                <a:satMod val="110000"/>
                <a:lumMod val="100000"/>
                <a:shade val="100000"/>
              </a:schemeClr>
            </a:gs>
            <a:gs pos="100000">
              <a:schemeClr val="dk1"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1">
          <a:schemeClr val="dk1"/>
        </a:lnRef>
        <a:fillRef idx="3">
          <a:schemeClr val="dk1"/>
        </a:fillRef>
        <a:effectRef idx="2">
          <a:schemeClr val="dk1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2851505" y="2054955"/>
        <a:ext cx="480548" cy="151033"/>
      </dsp:txXfrm>
    </dsp:sp>
    <dsp:sp modelId="{91FD251E-7689-4CC7-885A-7166E6C2D18E}">
      <dsp:nvSpPr>
        <dsp:cNvPr id="0" name=""/>
        <dsp:cNvSpPr/>
      </dsp:nvSpPr>
      <dsp:spPr>
        <a:xfrm>
          <a:off x="3556501" y="928777"/>
          <a:ext cx="1015007" cy="1199293"/>
        </a:xfrm>
        <a:prstGeom prst="roundRect">
          <a:avLst>
            <a:gd name="adj" fmla="val 10000"/>
          </a:avLst>
        </a:prstGeom>
        <a:gradFill flip="none" rotWithShape="0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path path="circle">
            <a:fillToRect l="50000" t="50000" r="50000" b="50000"/>
          </a:path>
          <a:tileRect/>
        </a:gradFill>
        <a:ln w="12700" cap="flat" cmpd="sng" algn="ctr">
          <a:solidFill>
            <a:schemeClr val="accent3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/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Stage 1: Classify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Random Forest</a:t>
          </a:r>
          <a:endParaRPr lang="en-IN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Flat, Gabled, Hipped</a:t>
          </a:r>
        </a:p>
      </dsp:txBody>
      <dsp:txXfrm>
        <a:off x="3586230" y="958506"/>
        <a:ext cx="955549" cy="1139835"/>
      </dsp:txXfrm>
    </dsp:sp>
    <dsp:sp modelId="{439B774E-5BBC-4723-8C95-5A6091638211}">
      <dsp:nvSpPr>
        <dsp:cNvPr id="0" name=""/>
        <dsp:cNvSpPr/>
      </dsp:nvSpPr>
      <dsp:spPr>
        <a:xfrm rot="5400000">
          <a:off x="3761437" y="2590219"/>
          <a:ext cx="605134" cy="251721"/>
        </a:xfrm>
        <a:prstGeom prst="rightArrow">
          <a:avLst>
            <a:gd name="adj1" fmla="val 60000"/>
            <a:gd name="adj2" fmla="val 50000"/>
          </a:avLst>
        </a:prstGeom>
        <a:gradFill rotWithShape="1">
          <a:gsLst>
            <a:gs pos="0">
              <a:schemeClr val="dk1">
                <a:satMod val="103000"/>
                <a:lumMod val="102000"/>
                <a:tint val="94000"/>
              </a:schemeClr>
            </a:gs>
            <a:gs pos="50000">
              <a:schemeClr val="dk1">
                <a:satMod val="110000"/>
                <a:lumMod val="100000"/>
                <a:shade val="100000"/>
              </a:schemeClr>
            </a:gs>
            <a:gs pos="100000">
              <a:schemeClr val="dk1"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1">
          <a:schemeClr val="dk1"/>
        </a:lnRef>
        <a:fillRef idx="3">
          <a:schemeClr val="dk1"/>
        </a:fillRef>
        <a:effectRef idx="2">
          <a:schemeClr val="dk1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3799195" y="2602805"/>
        <a:ext cx="529618" cy="151033"/>
      </dsp:txXfrm>
    </dsp:sp>
    <dsp:sp modelId="{7DD8BF61-B0A7-41CA-A910-7DD7A915DB68}">
      <dsp:nvSpPr>
        <dsp:cNvPr id="0" name=""/>
        <dsp:cNvSpPr/>
      </dsp:nvSpPr>
      <dsp:spPr>
        <a:xfrm>
          <a:off x="3556501" y="3269835"/>
          <a:ext cx="1015007" cy="1199293"/>
        </a:xfrm>
        <a:prstGeom prst="roundRect">
          <a:avLst>
            <a:gd name="adj" fmla="val 10000"/>
          </a:avLst>
        </a:prstGeom>
        <a:gradFill flip="none" rotWithShape="0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path path="circle">
            <a:fillToRect l="50000" t="50000" r="50000" b="50000"/>
          </a:path>
          <a:tileRect/>
        </a:gradFill>
        <a:ln w="12700" cap="flat" cmpd="sng" algn="ctr">
          <a:solidFill>
            <a:schemeClr val="accent4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Stage 2: Predict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Random Forest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Ridge Vertex Positions</a:t>
          </a:r>
          <a:endParaRPr lang="en-IN" sz="900" kern="1200" dirty="0"/>
        </a:p>
      </dsp:txBody>
      <dsp:txXfrm>
        <a:off x="3586230" y="3299564"/>
        <a:ext cx="955549" cy="1139835"/>
      </dsp:txXfrm>
    </dsp:sp>
    <dsp:sp modelId="{6676BD92-7142-4023-B8D6-FA1B145ACABD}">
      <dsp:nvSpPr>
        <dsp:cNvPr id="0" name=""/>
        <dsp:cNvSpPr/>
      </dsp:nvSpPr>
      <dsp:spPr>
        <a:xfrm rot="19670347">
          <a:off x="4739155" y="3155718"/>
          <a:ext cx="519677" cy="251721"/>
        </a:xfrm>
        <a:prstGeom prst="rightArrow">
          <a:avLst>
            <a:gd name="adj1" fmla="val 60000"/>
            <a:gd name="adj2" fmla="val 50000"/>
          </a:avLst>
        </a:prstGeom>
        <a:gradFill rotWithShape="1">
          <a:gsLst>
            <a:gs pos="0">
              <a:schemeClr val="dk1">
                <a:satMod val="103000"/>
                <a:lumMod val="102000"/>
                <a:tint val="94000"/>
              </a:schemeClr>
            </a:gs>
            <a:gs pos="50000">
              <a:schemeClr val="dk1">
                <a:satMod val="110000"/>
                <a:lumMod val="100000"/>
                <a:shade val="100000"/>
              </a:schemeClr>
            </a:gs>
            <a:gs pos="100000">
              <a:schemeClr val="dk1"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1">
          <a:schemeClr val="dk1"/>
        </a:lnRef>
        <a:fillRef idx="3">
          <a:schemeClr val="dk1"/>
        </a:fillRef>
        <a:effectRef idx="2">
          <a:schemeClr val="dk1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4744949" y="3226161"/>
        <a:ext cx="444161" cy="151033"/>
      </dsp:txXfrm>
    </dsp:sp>
    <dsp:sp modelId="{D742FC8C-DBEC-4FDB-8FCD-33D874AC93FF}">
      <dsp:nvSpPr>
        <dsp:cNvPr id="0" name=""/>
        <dsp:cNvSpPr/>
      </dsp:nvSpPr>
      <dsp:spPr>
        <a:xfrm>
          <a:off x="5401578" y="2109686"/>
          <a:ext cx="1015007" cy="1199293"/>
        </a:xfrm>
        <a:prstGeom prst="roundRect">
          <a:avLst>
            <a:gd name="adj" fmla="val 10000"/>
          </a:avLst>
        </a:prstGeom>
        <a:gradFill flip="none" rotWithShape="0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path path="circle">
            <a:fillToRect l="50000" t="50000" r="50000" b="50000"/>
          </a:path>
          <a:tileRect/>
        </a:gradFill>
        <a:ln w="12700" cap="flat" cmpd="sng" algn="ctr">
          <a:solidFill>
            <a:schemeClr val="accent5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Geometric Construction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Place ridge vertices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Build roof faces</a:t>
          </a:r>
          <a:endParaRPr lang="en-IN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Add semantic labels</a:t>
          </a:r>
          <a:endParaRPr lang="en-IN" sz="900" kern="1200" dirty="0"/>
        </a:p>
      </dsp:txBody>
      <dsp:txXfrm>
        <a:off x="5431307" y="2139415"/>
        <a:ext cx="955549" cy="1139835"/>
      </dsp:txXfrm>
    </dsp:sp>
    <dsp:sp modelId="{46EE80D5-C20F-42BC-8EC5-23DF76184F17}">
      <dsp:nvSpPr>
        <dsp:cNvPr id="0" name=""/>
        <dsp:cNvSpPr/>
      </dsp:nvSpPr>
      <dsp:spPr>
        <a:xfrm>
          <a:off x="6589696" y="2583472"/>
          <a:ext cx="366994" cy="251721"/>
        </a:xfrm>
        <a:prstGeom prst="rightArrow">
          <a:avLst>
            <a:gd name="adj1" fmla="val 60000"/>
            <a:gd name="adj2" fmla="val 50000"/>
          </a:avLst>
        </a:prstGeom>
        <a:gradFill rotWithShape="1">
          <a:gsLst>
            <a:gs pos="0">
              <a:schemeClr val="dk1">
                <a:satMod val="103000"/>
                <a:lumMod val="102000"/>
                <a:tint val="94000"/>
              </a:schemeClr>
            </a:gs>
            <a:gs pos="50000">
              <a:schemeClr val="dk1">
                <a:satMod val="110000"/>
                <a:lumMod val="100000"/>
                <a:shade val="100000"/>
              </a:schemeClr>
            </a:gs>
            <a:gs pos="100000">
              <a:schemeClr val="dk1"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1">
          <a:schemeClr val="dk1"/>
        </a:lnRef>
        <a:fillRef idx="3">
          <a:schemeClr val="dk1"/>
        </a:fillRef>
        <a:effectRef idx="2">
          <a:schemeClr val="dk1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6589696" y="2633816"/>
        <a:ext cx="291478" cy="151033"/>
      </dsp:txXfrm>
    </dsp:sp>
    <dsp:sp modelId="{E49444D5-4897-4DF9-93CB-F521858BB5BF}">
      <dsp:nvSpPr>
        <dsp:cNvPr id="0" name=""/>
        <dsp:cNvSpPr/>
      </dsp:nvSpPr>
      <dsp:spPr>
        <a:xfrm>
          <a:off x="7109028" y="2109686"/>
          <a:ext cx="1015007" cy="1199293"/>
        </a:xfrm>
        <a:prstGeom prst="roundRect">
          <a:avLst>
            <a:gd name="adj" fmla="val 10000"/>
          </a:avLst>
        </a:prstGeom>
        <a:gradFill flip="none" rotWithShape="0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path path="circle">
            <a:fillToRect l="50000" t="50000" r="50000" b="50000"/>
          </a:path>
          <a:tileRect/>
        </a:gradFill>
        <a:ln w="12700" cap="flat" cmpd="sng" algn="ctr">
          <a:solidFill>
            <a:schemeClr val="accent6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CityJSON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LOD2.2 Building</a:t>
          </a:r>
        </a:p>
      </dsp:txBody>
      <dsp:txXfrm>
        <a:off x="7138757" y="2139415"/>
        <a:ext cx="955549" cy="11398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8E764-B78A-26CF-1740-5216948F5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9625CD-3744-62F9-3443-CFB19EB7A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63402-BB01-04F2-D350-B726EAF90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9A071-1DCF-42BF-AE2B-87A9BF7E85D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542DB-B4FF-8CB5-B29E-08AF0EBFE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CD536-50BE-5854-0822-7FB08ECF3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9CCFE-2386-41D8-B6D7-83F7DE26C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8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8599D-0F92-9AEF-D8BA-0C292B121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D3E1B-DFA5-40C1-3B62-028CFDBDE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6B854-A66F-D660-B817-7E9BA1794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9A071-1DCF-42BF-AE2B-87A9BF7E85D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E1FBC-275F-E2B3-C3FE-FE5B080CC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7058B-5682-1CF9-0CE8-77DC63F3B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9CCFE-2386-41D8-B6D7-83F7DE26C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74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782EA-0FB4-205C-875F-62F7CEF13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E78F1-C0AA-9DD2-B191-1AD0F372C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EE42E-95CA-4486-B4BA-CAB37E567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9A071-1DCF-42BF-AE2B-87A9BF7E85D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337CE-0F5A-E7B0-A8F2-A56B1B262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703B0-4647-51F7-C7DC-5FAD3293F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9CCFE-2386-41D8-B6D7-83F7DE26C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089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A7A4D-ED63-6F5E-170C-EFB8742EF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B040C-4960-A51D-5397-F18D6B7FFE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F0C01E-142F-00C5-A708-B3D90C432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9D96C-A3FA-88D5-CE9F-2BDF2C418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9A071-1DCF-42BF-AE2B-87A9BF7E85D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6B2FC8-E82A-546A-A8A2-49B8AE696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E15C9-4B57-BABA-D4DC-C32F386A3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9CCFE-2386-41D8-B6D7-83F7DE26C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979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DF523-7537-F757-104E-9CD309D9A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25DC9-04B2-6023-7AE5-9F36A10BF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8C7BA-1B58-0E53-5C13-4667B05DCF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6D81B0-E963-D47E-1602-60C4B08E64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965757-A23B-94DD-3D13-B937B58DD6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8EC451-9EE9-9608-C855-E13D251EF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9A071-1DCF-42BF-AE2B-87A9BF7E85D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F176BC-B61D-C6CA-408D-E60A96921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98FE37-CB6D-6F11-7D3A-F42CAB9CD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9CCFE-2386-41D8-B6D7-83F7DE26C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653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029CB-41CF-3489-0F51-19ABB5FED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FE7FBC-C30A-EC17-4555-6A58E4D0E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9A071-1DCF-42BF-AE2B-87A9BF7E85D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AF7861-2E05-1180-83B0-49590EA25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6D387C-1DFE-B73C-7952-4B4CF673D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9CCFE-2386-41D8-B6D7-83F7DE26C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93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785A89-E47A-2F8E-3CE7-C22D9471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9A071-1DCF-42BF-AE2B-87A9BF7E85D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0F98EB-CA86-92B1-49F3-1E02A7AFB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F2990-1CED-94DC-6125-1A9E70521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9CCFE-2386-41D8-B6D7-83F7DE26C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263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A64B5-2055-16A7-9E9B-2D2FF2A2E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3368D-DD76-F0A5-B7D2-ACC5BEDC4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25FF93-025B-8000-F5E9-ED77204C5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74ADF-1BCC-6C9F-3590-7C1B20029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9A071-1DCF-42BF-AE2B-87A9BF7E85D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DE8163-3F92-D3AE-970A-093D96A88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6644C-AA63-F30C-3B1B-8D1B314C1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9CCFE-2386-41D8-B6D7-83F7DE26C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796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2FF12-CB02-153F-22E7-90E71A38A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DD5576-C5EC-70AD-482B-B259AB808B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2582D0-C96A-BCF2-82F7-31D538C38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1A422-A1CC-9782-E97D-EDA946448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9A071-1DCF-42BF-AE2B-87A9BF7E85D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B453EB-1F16-E4D6-2018-C8FD450A5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07BA1-CC76-3448-9A9F-D57432C72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9CCFE-2386-41D8-B6D7-83F7DE26C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935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AFFF-069F-BDA2-5B29-9FE92741F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1AB278-0741-A410-1BBD-4127A8A72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3C482-29F5-194D-8E61-C839702E9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9A071-1DCF-42BF-AE2B-87A9BF7E85D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2F90C-7230-6CBF-BE13-C7900242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3E477-FA2F-BB91-5727-4F055EEF1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9CCFE-2386-41D8-B6D7-83F7DE26C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034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9923E-C35E-7E85-609E-9C80428C6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E01FE4-230E-20DD-314E-59AE57AA6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474AC-619C-5F5F-B2EF-5C54BC408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9A071-1DCF-42BF-AE2B-87A9BF7E85D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6FE66-CA84-2118-6632-76E7FE7CE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B4EFD-9BCE-09EF-E71A-16A2BBCE6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9CCFE-2386-41D8-B6D7-83F7DE26C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183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979AE2-C33F-D2C8-0BAD-9BD973090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1F92B-0811-353D-E7CA-0E183A9E7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317D7-95EB-B6A4-1D48-9C35B06322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49A071-1DCF-42BF-AE2B-87A9BF7E85D8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1D9FA-F00F-44DE-1F8E-100F4426F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DCF40-4369-B1DC-0BE7-4933E694C6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89CCFE-2386-41D8-B6D7-83F7DE26C4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718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microsoft.com/office/2017/06/relationships/model3d" Target="../media/model3d2.glb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6.xml"/><Relationship Id="rId6" Type="http://schemas.microsoft.com/office/2017/06/relationships/model3d" Target="../media/model3d3.glb"/><Relationship Id="rId5" Type="http://schemas.openxmlformats.org/officeDocument/2006/relationships/image" Target="../media/image4.png"/><Relationship Id="rId4" Type="http://schemas.microsoft.com/office/2017/06/relationships/model3d" Target="../media/model3d2.glb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3dbag.nl/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6E55A-60DF-BCE2-CA91-879AD61D9C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Automatic Refinement of 3D Building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19E7B-CFDB-94D7-5E1D-1DFCB5BA06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LOD1.3 to LOD2.2 using Graph-Based Parametric Roof Reconstruction with Machine Learning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2622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06C9F-D42F-488D-2302-ECD72C4D0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31FD576-E74C-3B47-9CBB-56FD3C1A1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/>
              <a:t>The Problem: Buildings without Roofs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>
                <a:extLst>
                  <a:ext uri="{FF2B5EF4-FFF2-40B4-BE49-F238E27FC236}">
                    <a16:creationId xmlns:a16="http://schemas.microsoft.com/office/drawing/2014/main" id="{D4023B0C-558C-3E13-0CE1-60AC877F15D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2249080"/>
                  </p:ext>
                </p:extLst>
              </p:nvPr>
            </p:nvGraphicFramePr>
            <p:xfrm>
              <a:off x="838200" y="3076950"/>
              <a:ext cx="3403009" cy="264211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403009" cy="2642117"/>
                    </a:xfrm>
                    <a:prstGeom prst="rect">
                      <a:avLst/>
                    </a:prstGeom>
                  </am3d:spPr>
                  <am3d:camera>
                    <am3d:pos x="0" y="0" z="594530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14285" d="1000000"/>
                    <am3d:preTrans dx="-10928571" dy="-8614285" dz="18000000"/>
                    <am3d:scale>
                      <am3d:sx n="1000000" d="1000000"/>
                      <am3d:sy n="1000000" d="1000000"/>
                      <am3d:sz n="1000000" d="1000000"/>
                    </am3d:scale>
                    <am3d:rot ax="581434" ay="-1458471" az="-223012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74890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>
                <a:extLst>
                  <a:ext uri="{FF2B5EF4-FFF2-40B4-BE49-F238E27FC236}">
                    <a16:creationId xmlns:a16="http://schemas.microsoft.com/office/drawing/2014/main" id="{D4023B0C-558C-3E13-0CE1-60AC877F15D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0" y="3076950"/>
                <a:ext cx="3403009" cy="26421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>
                <a:extLst>
                  <a:ext uri="{FF2B5EF4-FFF2-40B4-BE49-F238E27FC236}">
                    <a16:creationId xmlns:a16="http://schemas.microsoft.com/office/drawing/2014/main" id="{5FAD3F1B-E07A-04FA-AA96-86930416CD5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10543772"/>
                  </p:ext>
                </p:extLst>
              </p:nvPr>
            </p:nvGraphicFramePr>
            <p:xfrm>
              <a:off x="8015767" y="2192159"/>
              <a:ext cx="3338033" cy="3526909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3338033" cy="3526909"/>
                    </a:xfrm>
                    <a:prstGeom prst="rect">
                      <a:avLst/>
                    </a:prstGeom>
                  </am3d:spPr>
                  <am3d:camera>
                    <am3d:pos x="0" y="0" z="6395329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14285" d="1000000"/>
                    <am3d:preTrans dx="-10928571" dy="-12471428" dz="18000000"/>
                    <am3d:scale>
                      <am3d:sx n="1000000" d="1000000"/>
                      <am3d:sy n="1000000" d="1000000"/>
                      <am3d:sz n="1000000" d="1000000"/>
                    </am3d:scale>
                    <am3d:rot ax="715699" ay="-1137628" az="-217214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15589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>
                <a:extLst>
                  <a:ext uri="{FF2B5EF4-FFF2-40B4-BE49-F238E27FC236}">
                    <a16:creationId xmlns:a16="http://schemas.microsoft.com/office/drawing/2014/main" id="{5FAD3F1B-E07A-04FA-AA96-86930416CD5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15767" y="2192159"/>
                <a:ext cx="3338033" cy="3526909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2432807-1AB8-EB87-D88F-D2D160AD92D9}"/>
              </a:ext>
            </a:extLst>
          </p:cNvPr>
          <p:cNvSpPr txBox="1"/>
          <p:nvPr/>
        </p:nvSpPr>
        <p:spPr>
          <a:xfrm>
            <a:off x="2021668" y="2007493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27B238-7C0F-09F1-7E3E-C3724F7F50A4}"/>
              </a:ext>
            </a:extLst>
          </p:cNvPr>
          <p:cNvSpPr txBox="1"/>
          <p:nvPr/>
        </p:nvSpPr>
        <p:spPr>
          <a:xfrm>
            <a:off x="2032600" y="2262951"/>
            <a:ext cx="6821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LOD1.3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423F3-3D07-235F-5DD0-2EE4D0255EB4}"/>
              </a:ext>
            </a:extLst>
          </p:cNvPr>
          <p:cNvSpPr txBox="1"/>
          <p:nvPr/>
        </p:nvSpPr>
        <p:spPr>
          <a:xfrm>
            <a:off x="8928325" y="2007493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Output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0AF095-3CA9-9072-6EA1-341D3C4E63E4}"/>
              </a:ext>
            </a:extLst>
          </p:cNvPr>
          <p:cNvSpPr txBox="1"/>
          <p:nvPr/>
        </p:nvSpPr>
        <p:spPr>
          <a:xfrm>
            <a:off x="9032231" y="2262952"/>
            <a:ext cx="6821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LOD2.2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B5B1DCF-CA70-8524-1C82-F263BF99717F}"/>
              </a:ext>
            </a:extLst>
          </p:cNvPr>
          <p:cNvSpPr/>
          <p:nvPr/>
        </p:nvSpPr>
        <p:spPr>
          <a:xfrm>
            <a:off x="4892431" y="3972069"/>
            <a:ext cx="2407138" cy="851877"/>
          </a:xfrm>
          <a:prstGeom prst="rightArrow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34725F-3298-FF11-09B8-6B63770970B4}"/>
              </a:ext>
            </a:extLst>
          </p:cNvPr>
          <p:cNvSpPr txBox="1"/>
          <p:nvPr/>
        </p:nvSpPr>
        <p:spPr>
          <a:xfrm>
            <a:off x="5046081" y="4213341"/>
            <a:ext cx="1974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Pipeline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4EE776-3184-62E1-2C06-CC963F851A20}"/>
              </a:ext>
            </a:extLst>
          </p:cNvPr>
          <p:cNvSpPr txBox="1"/>
          <p:nvPr/>
        </p:nvSpPr>
        <p:spPr>
          <a:xfrm>
            <a:off x="2714774" y="2053659"/>
            <a:ext cx="17433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Flat top (No roof shape)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7F5FF4-6890-87A1-BE37-9AB5281CA38D}"/>
              </a:ext>
            </a:extLst>
          </p:cNvPr>
          <p:cNvSpPr txBox="1"/>
          <p:nvPr/>
        </p:nvSpPr>
        <p:spPr>
          <a:xfrm>
            <a:off x="9818311" y="2053659"/>
            <a:ext cx="15703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Actual roof geometry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83BF1A7-F478-131F-DDEE-51EF13CFA2A1}"/>
              </a:ext>
            </a:extLst>
          </p:cNvPr>
          <p:cNvSpPr/>
          <p:nvPr/>
        </p:nvSpPr>
        <p:spPr>
          <a:xfrm flipV="1">
            <a:off x="8978799" y="2932324"/>
            <a:ext cx="58939" cy="5893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98DF6DE-79CC-E4FE-C07D-1B391E49BA77}"/>
              </a:ext>
            </a:extLst>
          </p:cNvPr>
          <p:cNvSpPr/>
          <p:nvPr/>
        </p:nvSpPr>
        <p:spPr>
          <a:xfrm flipV="1">
            <a:off x="10046988" y="2929683"/>
            <a:ext cx="58939" cy="5893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6AA2AB6-EDC5-E908-3564-71916B9BE4D3}"/>
              </a:ext>
            </a:extLst>
          </p:cNvPr>
          <p:cNvCxnSpPr>
            <a:cxnSpLocks/>
          </p:cNvCxnSpPr>
          <p:nvPr/>
        </p:nvCxnSpPr>
        <p:spPr>
          <a:xfrm flipV="1">
            <a:off x="9000917" y="2959152"/>
            <a:ext cx="1097659" cy="9588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923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9E246-71BA-D77D-E648-BF6E16B52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B04EEE-667A-1E7F-4083-318A5FB79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/>
              <a:t>Research Questions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ECA5FC-9811-37D9-9485-E71B194D1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800" dirty="0"/>
              <a:t>RQ1</a:t>
            </a:r>
          </a:p>
          <a:p>
            <a:pPr marL="457200" lvl="1" indent="0">
              <a:buNone/>
            </a:pPr>
            <a:r>
              <a:rPr lang="en-IN" sz="1400" dirty="0"/>
              <a:t>How accurately can roof types (flat, gabled, hipped) be classified from LOD1.3 building geometry features using Random Forest classifier and which geometric features are most informative for this task?</a:t>
            </a:r>
          </a:p>
          <a:p>
            <a:pPr marL="457200" lvl="1" indent="0">
              <a:buNone/>
            </a:pPr>
            <a:endParaRPr lang="en-IN" sz="1400" dirty="0"/>
          </a:p>
          <a:p>
            <a:pPr marL="457200" lvl="1" indent="0">
              <a:buNone/>
            </a:pPr>
            <a:endParaRPr lang="en-IN" sz="1400" dirty="0"/>
          </a:p>
          <a:p>
            <a:pPr marL="0" indent="0" algn="ctr">
              <a:buNone/>
            </a:pPr>
            <a:r>
              <a:rPr lang="en-IN" sz="1800" dirty="0"/>
              <a:t>RQ2</a:t>
            </a:r>
          </a:p>
          <a:p>
            <a:pPr marL="457200" lvl="1" indent="0">
              <a:buNone/>
            </a:pPr>
            <a:r>
              <a:rPr lang="en-IN" sz="1400" dirty="0"/>
              <a:t>How accurately can roof type-specific geometric parameters (ridge height, ridge position) be predicted from LOD1.3 features using Random Forest regression, and what geometric accuracy does the resulting LOD2.2 reconstruction achieve compared to ground truth?</a:t>
            </a:r>
          </a:p>
        </p:txBody>
      </p:sp>
    </p:spTree>
    <p:extLst>
      <p:ext uri="{BB962C8B-B14F-4D97-AF65-F5344CB8AC3E}">
        <p14:creationId xmlns:p14="http://schemas.microsoft.com/office/powerpoint/2010/main" val="2283291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16E14-924D-B638-C2BF-17939398E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100F11E-43F8-E6C8-EBBD-061844185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/>
              <a:t>The Base Unit: What is a building in CityJSON?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8827D9-6631-8970-4A24-4F085DECE3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800" dirty="0"/>
              <a:t>CityJSON Structure</a:t>
            </a:r>
          </a:p>
          <a:p>
            <a:pPr marL="0" indent="0" algn="ctr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Building (parent)</a:t>
            </a:r>
          </a:p>
          <a:p>
            <a:pPr marL="457200" lvl="1" indent="0">
              <a:buNone/>
            </a:pPr>
            <a:r>
              <a:rPr lang="en-IN" sz="1400" dirty="0"/>
              <a:t>Attributes only (no geometry)</a:t>
            </a:r>
          </a:p>
          <a:p>
            <a:pPr marL="457200" lvl="1" indent="0">
              <a:buNone/>
            </a:pPr>
            <a:r>
              <a:rPr lang="en-IN" sz="1400" dirty="0"/>
              <a:t>b3_dak_type, b3_h_dak_min/max, volumes, etc</a:t>
            </a:r>
          </a:p>
          <a:p>
            <a:pPr marL="0" indent="0">
              <a:buNone/>
            </a:pPr>
            <a:r>
              <a:rPr lang="en-IN" sz="1800" dirty="0"/>
              <a:t>	BuildingPart (child)</a:t>
            </a:r>
          </a:p>
          <a:p>
            <a:pPr marL="457200" lvl="1" indent="0">
              <a:buNone/>
            </a:pPr>
            <a:r>
              <a:rPr lang="en-IN" sz="1400" dirty="0"/>
              <a:t>	Contains the actual 3D geometry</a:t>
            </a:r>
          </a:p>
          <a:p>
            <a:pPr marL="457200" lvl="1" indent="0">
              <a:buNone/>
            </a:pPr>
            <a:r>
              <a:rPr lang="en-IN" sz="1400" dirty="0"/>
              <a:t>	LOD1.3 geometry (flat-top box)</a:t>
            </a:r>
          </a:p>
          <a:p>
            <a:pPr marL="457200" lvl="1" indent="0">
              <a:buNone/>
            </a:pPr>
            <a:r>
              <a:rPr lang="en-IN" sz="1400" dirty="0"/>
              <a:t>	LOD2.2 geometry(real roof shape)</a:t>
            </a:r>
          </a:p>
          <a:p>
            <a:pPr marL="457200" lvl="1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800" dirty="0"/>
              <a:t>Input = LOD1.3</a:t>
            </a:r>
          </a:p>
          <a:p>
            <a:pPr marL="0" indent="0">
              <a:buNone/>
            </a:pPr>
            <a:r>
              <a:rPr lang="en-IN" sz="1800" dirty="0"/>
              <a:t>Ground truth = LOD2.2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7B0B1-7CA5-666F-F9E4-7BD0FA84D7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800" dirty="0"/>
              <a:t>The LOD1.3 Solid</a:t>
            </a:r>
          </a:p>
          <a:p>
            <a:pPr marL="0" indent="0" algn="ctr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An extruded 2D footprint:</a:t>
            </a:r>
          </a:p>
          <a:p>
            <a:pPr marL="457200" lvl="1" indent="0">
              <a:buNone/>
            </a:pPr>
            <a:r>
              <a:rPr lang="en-IN" sz="1400" dirty="0"/>
              <a:t>GroundFace – footprint polygon at ground level</a:t>
            </a:r>
          </a:p>
          <a:p>
            <a:pPr marL="457200" lvl="1" indent="0">
              <a:buNone/>
            </a:pPr>
            <a:r>
              <a:rPr lang="en-IN" sz="1400" dirty="0"/>
              <a:t>TopFace – identical polygon at building height</a:t>
            </a:r>
          </a:p>
          <a:p>
            <a:pPr marL="457200" lvl="1" indent="0">
              <a:buNone/>
            </a:pPr>
            <a:r>
              <a:rPr lang="en-IN" sz="1400" dirty="0"/>
              <a:t>WallFaces – Vertical rectangles connecting them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Typical rectangular building:</a:t>
            </a:r>
          </a:p>
          <a:p>
            <a:pPr marL="457200" lvl="1" indent="0">
              <a:buNone/>
            </a:pPr>
            <a:r>
              <a:rPr lang="en-IN" sz="1400" dirty="0"/>
              <a:t>8 vertices (4 ground + 4 top)</a:t>
            </a:r>
          </a:p>
          <a:p>
            <a:pPr marL="457200" lvl="1" indent="0">
              <a:buNone/>
            </a:pPr>
            <a:r>
              <a:rPr lang="en-IN" sz="1400" dirty="0"/>
              <a:t>6 faces (1 ground + 1 top + 4 walls)</a:t>
            </a:r>
          </a:p>
          <a:p>
            <a:pPr marL="457200" lvl="1" indent="0">
              <a:buNone/>
            </a:pPr>
            <a:r>
              <a:rPr lang="en-IN" sz="1400" dirty="0"/>
              <a:t>No roof shape – just a flat top</a:t>
            </a:r>
          </a:p>
          <a:p>
            <a:pPr marL="457200" lvl="1" indent="0">
              <a:buNone/>
            </a:pPr>
            <a:endParaRPr lang="en-IN" sz="1400" dirty="0"/>
          </a:p>
          <a:p>
            <a:pPr marL="457200" lvl="1" indent="0">
              <a:buNone/>
            </a:pPr>
            <a:r>
              <a:rPr lang="en-IN" sz="1400" dirty="0"/>
              <a:t>Coordinates: RD/NAP (EPSG:7415)</a:t>
            </a:r>
          </a:p>
          <a:p>
            <a:pPr marL="457200" lvl="1" indent="0">
              <a:buNone/>
            </a:pPr>
            <a:r>
              <a:rPr lang="en-IN" sz="1400" dirty="0"/>
              <a:t>Stored as integers x 0.001 + translate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F50AAA78-3AA0-7C57-99C0-F94A9A2A70A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81008" y="2940803"/>
            <a:ext cx="751667" cy="619932"/>
          </a:xfrm>
          <a:prstGeom prst="bentConnector3">
            <a:avLst>
              <a:gd name="adj1" fmla="val 100035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943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CBCB934-0878-DD2A-4EDC-B4BEB29AC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/>
              <a:t>Three Roof Types We Handle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E02C36-8F25-95CA-1FEC-201BF58DD902}"/>
              </a:ext>
            </a:extLst>
          </p:cNvPr>
          <p:cNvSpPr txBox="1"/>
          <p:nvPr/>
        </p:nvSpPr>
        <p:spPr>
          <a:xfrm>
            <a:off x="3418479" y="1685438"/>
            <a:ext cx="562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Flat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CA35F2-F8E8-204F-0BBE-5E83A269100C}"/>
              </a:ext>
            </a:extLst>
          </p:cNvPr>
          <p:cNvSpPr txBox="1"/>
          <p:nvPr/>
        </p:nvSpPr>
        <p:spPr>
          <a:xfrm>
            <a:off x="5639785" y="1685438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Gabled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846C61-7DE2-8515-AD90-84BB8640109A}"/>
              </a:ext>
            </a:extLst>
          </p:cNvPr>
          <p:cNvSpPr txBox="1"/>
          <p:nvPr/>
        </p:nvSpPr>
        <p:spPr>
          <a:xfrm>
            <a:off x="8058305" y="1685438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Hipped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A06171-DB15-1B8D-53AC-9D3FD6DFC99E}"/>
              </a:ext>
            </a:extLst>
          </p:cNvPr>
          <p:cNvSpPr txBox="1"/>
          <p:nvPr/>
        </p:nvSpPr>
        <p:spPr>
          <a:xfrm>
            <a:off x="3060785" y="1919356"/>
            <a:ext cx="1242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1 RoofSurface</a:t>
            </a:r>
          </a:p>
          <a:p>
            <a:r>
              <a:rPr lang="en-IN" sz="1200" dirty="0"/>
              <a:t>0 Ridge Vertices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7DA17C-B157-B1FA-D8EF-C6F35DA52248}"/>
              </a:ext>
            </a:extLst>
          </p:cNvPr>
          <p:cNvSpPr txBox="1"/>
          <p:nvPr/>
        </p:nvSpPr>
        <p:spPr>
          <a:xfrm>
            <a:off x="5474514" y="1914493"/>
            <a:ext cx="1242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2 RoofSurface</a:t>
            </a:r>
          </a:p>
          <a:p>
            <a:r>
              <a:rPr lang="en-IN" sz="1200" dirty="0"/>
              <a:t>2 Ridge Vertices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2B2F2A-8C39-3050-F32E-341CA9B8E440}"/>
              </a:ext>
            </a:extLst>
          </p:cNvPr>
          <p:cNvSpPr txBox="1"/>
          <p:nvPr/>
        </p:nvSpPr>
        <p:spPr>
          <a:xfrm>
            <a:off x="7949236" y="1922242"/>
            <a:ext cx="1242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4 RoofSurface</a:t>
            </a:r>
          </a:p>
          <a:p>
            <a:r>
              <a:rPr lang="en-IN" sz="1200" dirty="0"/>
              <a:t>2 Ridge Vertices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7DF407-00BD-0F5B-AF0D-7BE1F4D13D67}"/>
              </a:ext>
            </a:extLst>
          </p:cNvPr>
          <p:cNvSpPr txBox="1"/>
          <p:nvPr/>
        </p:nvSpPr>
        <p:spPr>
          <a:xfrm>
            <a:off x="4122393" y="6061988"/>
            <a:ext cx="39472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Roof type is determined by counting RoofSurface Faces in the LOD2.2 ground truth during training.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>
                <a:extLst>
                  <a:ext uri="{FF2B5EF4-FFF2-40B4-BE49-F238E27FC236}">
                    <a16:creationId xmlns:a16="http://schemas.microsoft.com/office/drawing/2014/main" id="{865EDED5-BB3D-87D9-1673-F62D25A29EA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70417230"/>
                  </p:ext>
                </p:extLst>
              </p:nvPr>
            </p:nvGraphicFramePr>
            <p:xfrm>
              <a:off x="1359280" y="3076950"/>
              <a:ext cx="3403008" cy="2642116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403008" cy="2642116"/>
                    </a:xfrm>
                    <a:prstGeom prst="rect">
                      <a:avLst/>
                    </a:prstGeom>
                  </am3d:spPr>
                  <am3d:camera>
                    <am3d:pos x="0" y="0" z="594530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14285" d="1000000"/>
                    <am3d:preTrans dx="-10928571" dy="-8614285" dz="18000000"/>
                    <am3d:scale>
                      <am3d:sx n="1000000" d="1000000"/>
                      <am3d:sy n="1000000" d="1000000"/>
                      <am3d:sz n="1000000" d="1000000"/>
                    </am3d:scale>
                    <am3d:rot ax="581434" ay="-1458471" az="-223012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74890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>
                <a:extLst>
                  <a:ext uri="{FF2B5EF4-FFF2-40B4-BE49-F238E27FC236}">
                    <a16:creationId xmlns:a16="http://schemas.microsoft.com/office/drawing/2014/main" id="{865EDED5-BB3D-87D9-1673-F62D25A29EA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9280" y="3076950"/>
                <a:ext cx="3403008" cy="26421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>
                <a:extLst>
                  <a:ext uri="{FF2B5EF4-FFF2-40B4-BE49-F238E27FC236}">
                    <a16:creationId xmlns:a16="http://schemas.microsoft.com/office/drawing/2014/main" id="{C99FA437-4EC3-4FDF-2C09-39342FEEDBA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14269281"/>
                  </p:ext>
                </p:extLst>
              </p:nvPr>
            </p:nvGraphicFramePr>
            <p:xfrm>
              <a:off x="4426980" y="2213480"/>
              <a:ext cx="3338031" cy="3526907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3338031" cy="3526907"/>
                    </a:xfrm>
                    <a:prstGeom prst="rect">
                      <a:avLst/>
                    </a:prstGeom>
                  </am3d:spPr>
                  <am3d:camera>
                    <am3d:pos x="0" y="0" z="6395329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14285" d="1000000"/>
                    <am3d:preTrans dx="-10928571" dy="-12471428" dz="18000000"/>
                    <am3d:scale>
                      <am3d:sx n="1000000" d="1000000"/>
                      <am3d:sy n="1000000" d="1000000"/>
                      <am3d:sz n="1000000" d="1000000"/>
                    </am3d:scale>
                    <am3d:rot ax="715699" ay="-1137628" az="-217214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15589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>
                <a:extLst>
                  <a:ext uri="{FF2B5EF4-FFF2-40B4-BE49-F238E27FC236}">
                    <a16:creationId xmlns:a16="http://schemas.microsoft.com/office/drawing/2014/main" id="{C99FA437-4EC3-4FDF-2C09-39342FEEDBA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26980" y="2213480"/>
                <a:ext cx="3338031" cy="35269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>
                <a:extLst>
                  <a:ext uri="{FF2B5EF4-FFF2-40B4-BE49-F238E27FC236}">
                    <a16:creationId xmlns:a16="http://schemas.microsoft.com/office/drawing/2014/main" id="{A7A4E320-F082-BE3F-FAEF-E4F8A5450AC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94317076"/>
                  </p:ext>
                </p:extLst>
              </p:nvPr>
            </p:nvGraphicFramePr>
            <p:xfrm>
              <a:off x="7532699" y="2191808"/>
              <a:ext cx="3319013" cy="3570252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3319013" cy="3570252"/>
                    </a:xfrm>
                    <a:prstGeom prst="rect">
                      <a:avLst/>
                    </a:prstGeom>
                  </am3d:spPr>
                  <am3d:camera>
                    <am3d:pos x="0" y="0" z="6395329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14285" d="1000000"/>
                    <am3d:preTrans dx="-10928571" dy="-12471428" dz="18000000"/>
                    <am3d:scale>
                      <am3d:sx n="1000000" d="1000000"/>
                      <am3d:sy n="1000000" d="1000000"/>
                      <am3d:sz n="1000000" d="1000000"/>
                    </am3d:scale>
                    <am3d:rot ax="794060" ay="-1037277" az="-221408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15589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>
                <a:extLst>
                  <a:ext uri="{FF2B5EF4-FFF2-40B4-BE49-F238E27FC236}">
                    <a16:creationId xmlns:a16="http://schemas.microsoft.com/office/drawing/2014/main" id="{A7A4E320-F082-BE3F-FAEF-E4F8A5450AC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32699" y="2191808"/>
                <a:ext cx="3319013" cy="357025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0680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CCF67-BBAE-2A43-81DB-93373DA25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4B63A92-6A35-9CC4-0E62-CE7686678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/>
              <a:t>Dataset: 3DBAG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BCF228-C418-F4AB-B053-39E3E20859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800" dirty="0"/>
              <a:t>Source</a:t>
            </a:r>
          </a:p>
          <a:p>
            <a:pPr marL="0" indent="0" algn="ctr">
              <a:buNone/>
            </a:pPr>
            <a:endParaRPr lang="en-IN" sz="1800" dirty="0"/>
          </a:p>
          <a:p>
            <a:pPr marL="0" indent="0">
              <a:buNone/>
            </a:pPr>
            <a:r>
              <a:rPr lang="en-US" sz="1800" dirty="0"/>
              <a:t>Dutch 3D Building and Address dataset</a:t>
            </a:r>
          </a:p>
          <a:p>
            <a:pPr marL="0" indent="0">
              <a:buNone/>
            </a:pPr>
            <a:r>
              <a:rPr lang="en-US" sz="1800" dirty="0"/>
              <a:t>10M+ buildings in CityJSON format </a:t>
            </a:r>
          </a:p>
          <a:p>
            <a:pPr marL="0" indent="0">
              <a:buNone/>
            </a:pPr>
            <a:r>
              <a:rPr lang="en-US" sz="1800" dirty="0"/>
              <a:t>Both LOD1.3 and LOD2.2 provided</a:t>
            </a:r>
          </a:p>
          <a:p>
            <a:pPr marL="0" indent="0">
              <a:buNone/>
            </a:pPr>
            <a:r>
              <a:rPr lang="en-US" sz="1800" dirty="0"/>
              <a:t>Publicly available at </a:t>
            </a:r>
            <a:r>
              <a:rPr lang="en-US" sz="1800" dirty="0">
                <a:hlinkClick r:id="rId2"/>
              </a:rPr>
              <a:t>https://3dbag.nl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Coordinate system: EPSG:7415 (RD/NAP)</a:t>
            </a:r>
            <a:endParaRPr lang="en-IN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F624B-5DB9-A8B7-BE4D-8D671F680BF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800" dirty="0"/>
              <a:t>Subset</a:t>
            </a:r>
          </a:p>
          <a:p>
            <a:pPr marL="0" indent="0" algn="ctr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9 tiles processed(21,684 buildings)</a:t>
            </a:r>
          </a:p>
          <a:p>
            <a:pPr marL="0" indent="0">
              <a:buNone/>
            </a:pPr>
            <a:r>
              <a:rPr lang="en-IN" sz="1800" dirty="0"/>
              <a:t>8,542 buildings after filtering</a:t>
            </a:r>
          </a:p>
          <a:p>
            <a:pPr marL="457200" lvl="1" indent="0">
              <a:buNone/>
            </a:pPr>
            <a:r>
              <a:rPr lang="en-IN" sz="1400" dirty="0"/>
              <a:t>Flat: 3993 buildings</a:t>
            </a:r>
          </a:p>
          <a:p>
            <a:pPr marL="457200" lvl="1" indent="0">
              <a:buNone/>
            </a:pPr>
            <a:r>
              <a:rPr lang="en-IN" sz="1400" dirty="0"/>
              <a:t>Gabled: 3624 buildings</a:t>
            </a:r>
          </a:p>
          <a:p>
            <a:pPr marL="457200" lvl="1" indent="0">
              <a:buNone/>
            </a:pPr>
            <a:r>
              <a:rPr lang="en-IN" sz="1400" dirty="0"/>
              <a:t>Hipped: 925 buildings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Filter:</a:t>
            </a:r>
          </a:p>
          <a:p>
            <a:pPr marL="457200" lvl="1" indent="0">
              <a:buNone/>
            </a:pPr>
            <a:r>
              <a:rPr lang="en-IN" sz="1400" dirty="0"/>
              <a:t>Max 8 footprint vertices</a:t>
            </a:r>
          </a:p>
          <a:p>
            <a:pPr marL="457200" lvl="1" indent="0">
              <a:buNone/>
            </a:pPr>
            <a:r>
              <a:rPr lang="en-IN" sz="1400" dirty="0"/>
              <a:t>Area 10-500 m</a:t>
            </a:r>
            <a:r>
              <a:rPr lang="en-IN" sz="1400" baseline="30000" dirty="0"/>
              <a:t>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F69458-AA7C-217C-A529-4A92A7359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029413" cy="303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115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41720-3E44-CEA4-C5F6-6A26E9DDB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4095DD9-68BC-DBD4-2658-3AD907184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/>
              <a:t>Pipeline Overview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CE81FC0-C1C7-6ACB-A767-52EE88B54A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8617512"/>
              </p:ext>
            </p:extLst>
          </p:nvPr>
        </p:nvGraphicFramePr>
        <p:xfrm>
          <a:off x="2032000" y="1074208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19A8078-5D31-E336-601D-98F09115822D}"/>
              </a:ext>
            </a:extLst>
          </p:cNvPr>
          <p:cNvSpPr txBox="1"/>
          <p:nvPr/>
        </p:nvSpPr>
        <p:spPr>
          <a:xfrm>
            <a:off x="3015711" y="6061988"/>
            <a:ext cx="61605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The pipeline has two ML stages: (1) classify the roof types, (2) predict the ridge vertex positions. Then deterministic geometric rules construct the final LoD2.2 building.</a:t>
            </a:r>
          </a:p>
        </p:txBody>
      </p:sp>
    </p:spTree>
    <p:extLst>
      <p:ext uri="{BB962C8B-B14F-4D97-AF65-F5344CB8AC3E}">
        <p14:creationId xmlns:p14="http://schemas.microsoft.com/office/powerpoint/2010/main" val="1882595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B6748-7EB7-7271-B1FC-9A8CCE664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CC6D400-7A4D-C0E8-263E-2A1114EC9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/>
              <a:t>Feature Extraction and Selection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5821E5-0310-FCA9-87FD-83BA5F4E4C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Started with 13 LOD1.3 features</a:t>
            </a:r>
          </a:p>
          <a:p>
            <a:pPr marL="0" indent="0">
              <a:buNone/>
            </a:pPr>
            <a:r>
              <a:rPr lang="en-IN" sz="1800" dirty="0"/>
              <a:t>Used 3 methods to select features:</a:t>
            </a:r>
          </a:p>
          <a:p>
            <a:pPr marL="457200" lvl="1" indent="0">
              <a:buNone/>
            </a:pPr>
            <a:r>
              <a:rPr lang="en-IN" sz="1400" dirty="0"/>
              <a:t>Random Forest Importance</a:t>
            </a:r>
          </a:p>
          <a:p>
            <a:pPr marL="457200" lvl="1" indent="0">
              <a:buNone/>
            </a:pPr>
            <a:r>
              <a:rPr lang="en-US" sz="1400" dirty="0"/>
              <a:t>Permutation Importance</a:t>
            </a:r>
          </a:p>
          <a:p>
            <a:pPr marL="457200" lvl="1" indent="0">
              <a:buNone/>
            </a:pPr>
            <a:r>
              <a:rPr lang="en-US" sz="1400" dirty="0"/>
              <a:t>Mutual Importance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FE5C37B-F0E6-FF94-2E47-92CC743DA89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Result: 13 → 7 features (accuracy: 88.8% → 88.6%)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Selected (7) – all from LOD1.3 geometry:</a:t>
            </a:r>
          </a:p>
          <a:p>
            <a:pPr marL="457200" lvl="1" indent="0">
              <a:buNone/>
            </a:pPr>
            <a:r>
              <a:rPr lang="en-IN" sz="1400" dirty="0"/>
              <a:t>building_height, vol_lod13, footprint_area, footprint_perimeter, mbr_length, mbr_width, longest_edge_length</a:t>
            </a:r>
          </a:p>
          <a:p>
            <a:pPr marL="0" indent="0">
              <a:buNone/>
            </a:pPr>
            <a:r>
              <a:rPr lang="en-IN" sz="1800" dirty="0"/>
              <a:t>Dropped (6):</a:t>
            </a:r>
          </a:p>
          <a:p>
            <a:pPr marL="457200" lvl="1" indent="0">
              <a:buNone/>
            </a:pPr>
            <a:r>
              <a:rPr lang="en-IN" sz="1400" dirty="0"/>
              <a:t>n_footprint_vertices, aspect_ratio, compactness, rectangularity, edge_length_ratio, orientation</a:t>
            </a:r>
          </a:p>
          <a:p>
            <a:pPr marL="0" indent="0">
              <a:buNone/>
            </a:pPr>
            <a:r>
              <a:rPr lang="en-IN" sz="1800" dirty="0"/>
              <a:t>Also excluded (LIDAR/LOD2.2-derived):</a:t>
            </a:r>
          </a:p>
          <a:p>
            <a:pPr marL="457200" lvl="1" indent="0">
              <a:buNone/>
            </a:pPr>
            <a:r>
              <a:rPr lang="en-IN" sz="1400" dirty="0"/>
              <a:t>h_dak_min/max, h_dak_50p/70p, height_range, height_std_proxy, vol_lod22, vol ratio, vol difference</a:t>
            </a:r>
          </a:p>
        </p:txBody>
      </p:sp>
    </p:spTree>
    <p:extLst>
      <p:ext uri="{BB962C8B-B14F-4D97-AF65-F5344CB8AC3E}">
        <p14:creationId xmlns:p14="http://schemas.microsoft.com/office/powerpoint/2010/main" val="4016175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A6A1A-6D36-BC30-D0F5-0AED8E8D1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1872679-68CB-36BE-EC9C-7A2F37287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/>
              <a:t>Random Forest Feature Importance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312DB4-332F-DA0B-FF6B-5C7BD5F319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dirty="0"/>
              <a:t>During training, each tree splits data using features that best reduce prediction error.</a:t>
            </a:r>
          </a:p>
          <a:p>
            <a:pPr marL="0" indent="0">
              <a:buNone/>
            </a:pPr>
            <a:r>
              <a:rPr lang="en-IN" sz="1400" dirty="0"/>
              <a:t>Features that reduce error more often are considered more important.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So importance score reflects:</a:t>
            </a:r>
          </a:p>
          <a:p>
            <a:pPr marL="0" indent="0">
              <a:buNone/>
            </a:pPr>
            <a:r>
              <a:rPr lang="en-IN" sz="1400" dirty="0"/>
              <a:t>How much each feature reduces impurity across all trees?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E8CC7E5D-3353-1E05-B9FD-E5B0E987EA5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64084740"/>
              </p:ext>
            </p:extLst>
          </p:nvPr>
        </p:nvGraphicFramePr>
        <p:xfrm>
          <a:off x="6172200" y="1825625"/>
          <a:ext cx="5181600" cy="43513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4046600015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63055546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019251294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Importance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5732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building_height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0.2174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355222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vol_lod13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0.1508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582429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footprint_area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0.0963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07838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footprint_perimeter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0.0833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33952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mbr_width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0.0810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6024082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mbr_length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0.0761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857148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longest_edge_length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0.0584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522703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aspect_ratio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0.0527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3585838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compactness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0.0475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311255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edge_length_ratio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0.0432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848477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rectangularity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0.0382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009753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n_footprint_vertices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0.0311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3154512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orientation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0.0241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309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3441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C8A73-858F-27AF-EDCF-3D1435A7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4322936-2101-C39C-8539-634BD65FE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/>
              <a:t>Permutation Importance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2ECCDE-2F8A-A5A3-1141-D69E5EEE42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dirty="0"/>
              <a:t>Measures importance after the model is trained.</a:t>
            </a:r>
          </a:p>
          <a:p>
            <a:pPr marL="457200" lvl="1" indent="0">
              <a:buNone/>
            </a:pPr>
            <a:r>
              <a:rPr lang="en-IN" sz="1000" dirty="0"/>
              <a:t>Procedure:</a:t>
            </a:r>
          </a:p>
          <a:p>
            <a:pPr lvl="1">
              <a:buAutoNum type="arabicPeriod"/>
            </a:pPr>
            <a:r>
              <a:rPr lang="en-IN" sz="1000" dirty="0"/>
              <a:t>Train model normally</a:t>
            </a:r>
          </a:p>
          <a:p>
            <a:pPr lvl="1">
              <a:buAutoNum type="arabicPeriod"/>
            </a:pPr>
            <a:r>
              <a:rPr lang="en-IN" sz="1000" dirty="0"/>
              <a:t>Shuffle one feature randomly</a:t>
            </a:r>
          </a:p>
          <a:p>
            <a:pPr lvl="1">
              <a:buAutoNum type="arabicPeriod"/>
            </a:pPr>
            <a:r>
              <a:rPr lang="en-IN" sz="1000" dirty="0"/>
              <a:t>Measure how much accuracy drops</a:t>
            </a:r>
          </a:p>
          <a:p>
            <a:pPr marL="0" indent="0">
              <a:buNone/>
            </a:pPr>
            <a:r>
              <a:rPr lang="en-US" sz="1400" dirty="0"/>
              <a:t>If accuracy drops a lot → feature is important.</a:t>
            </a:r>
          </a:p>
          <a:p>
            <a:pPr marL="0" indent="0">
              <a:buNone/>
            </a:pPr>
            <a:r>
              <a:rPr lang="en-US" sz="1400" dirty="0"/>
              <a:t>If accuracy barely changes → feature is not useful.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Meaning of Standard Deviation is importance was measured multiple times, and results varied slightly.</a:t>
            </a:r>
          </a:p>
          <a:p>
            <a:pPr marL="0" indent="0">
              <a:buNone/>
            </a:pPr>
            <a:r>
              <a:rPr lang="en-US" sz="1400" dirty="0"/>
              <a:t>Small std = stable importance estimate.</a:t>
            </a:r>
            <a:endParaRPr lang="en-IN" sz="1400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44E6D5C6-EABD-3410-5D35-3C98C2F598F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6218669"/>
              </p:ext>
            </p:extLst>
          </p:nvPr>
        </p:nvGraphicFramePr>
        <p:xfrm>
          <a:off x="6172200" y="1825626"/>
          <a:ext cx="5181600" cy="4413932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4046600015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63055546"/>
                    </a:ext>
                  </a:extLst>
                </a:gridCol>
                <a:gridCol w="1250462">
                  <a:extLst>
                    <a:ext uri="{9D8B030D-6E8A-4147-A177-3AD203B41FA5}">
                      <a16:colId xmlns:a16="http://schemas.microsoft.com/office/drawing/2014/main" val="1019251294"/>
                    </a:ext>
                  </a:extLst>
                </a:gridCol>
                <a:gridCol w="1060938">
                  <a:extLst>
                    <a:ext uri="{9D8B030D-6E8A-4147-A177-3AD203B41FA5}">
                      <a16:colId xmlns:a16="http://schemas.microsoft.com/office/drawing/2014/main" val="3021211436"/>
                    </a:ext>
                  </a:extLst>
                </a:gridCol>
              </a:tblGrid>
              <a:tr h="268061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Importance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Std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57321"/>
                  </a:ext>
                </a:extLst>
              </a:tr>
              <a:tr h="268061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building_height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0.2606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0.0090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355222"/>
                  </a:ext>
                </a:extLst>
              </a:tr>
              <a:tr h="531596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longest_edge_length</a:t>
                      </a:r>
                    </a:p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0.0276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0.0033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5824294"/>
                  </a:ext>
                </a:extLst>
              </a:tr>
              <a:tr h="268061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vol_lod13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0.0218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0.0045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078383"/>
                  </a:ext>
                </a:extLst>
              </a:tr>
              <a:tr h="268061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mbr_length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0.0140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0.0035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339520"/>
                  </a:ext>
                </a:extLst>
              </a:tr>
              <a:tr h="379712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footprint_perimeter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0.0126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0.0036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6024082"/>
                  </a:ext>
                </a:extLst>
              </a:tr>
              <a:tr h="268061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mbr_width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8571484"/>
                  </a:ext>
                </a:extLst>
              </a:tr>
              <a:tr h="268061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rectangularity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0.0094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0.0029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5227031"/>
                  </a:ext>
                </a:extLst>
              </a:tr>
              <a:tr h="379712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n_footprint_vertices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0.0085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0.0034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3585838"/>
                  </a:ext>
                </a:extLst>
              </a:tr>
              <a:tr h="268061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aspect_ratio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0.0073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0.0027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3112551"/>
                  </a:ext>
                </a:extLst>
              </a:tr>
              <a:tr h="268061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footprint_area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0.0072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0.0019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8484774"/>
                  </a:ext>
                </a:extLst>
              </a:tr>
              <a:tr h="268061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orientation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0.0071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0.0016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0097531"/>
                  </a:ext>
                </a:extLst>
              </a:tr>
              <a:tr h="379712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edge_length_ratio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0.0068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0.0022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3154512"/>
                  </a:ext>
                </a:extLst>
              </a:tr>
              <a:tr h="268061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compactness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0.0061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0.0023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309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29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B69F3-B15C-80EF-1D68-3B2C19EF7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44BB8A2-8EF1-20CF-2332-A84ECCEEB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/>
              <a:t>Mutual Importance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5CA3AA-0AEC-AE1D-25BC-D294BB8974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Mutual Information measures how much information a feature contains about the target variable.</a:t>
            </a:r>
          </a:p>
          <a:p>
            <a:pPr marL="457200" lvl="1" indent="0">
              <a:buNone/>
            </a:pPr>
            <a:r>
              <a:rPr lang="en-US" sz="1000" dirty="0"/>
              <a:t>MI(X,Y) = how much knowing X reduces uncertainty about Y</a:t>
            </a:r>
          </a:p>
          <a:p>
            <a:pPr marL="0" indent="0">
              <a:buNone/>
            </a:pPr>
            <a:r>
              <a:rPr lang="en-US" sz="1400" dirty="0"/>
              <a:t>High MI → strong relationship. Low MI → weak relationship.</a:t>
            </a:r>
            <a:endParaRPr lang="en-IN" sz="1400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C4676C68-FC53-CF9A-D86A-D36F9DD00AC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00117"/>
              </p:ext>
            </p:extLst>
          </p:nvPr>
        </p:nvGraphicFramePr>
        <p:xfrm>
          <a:off x="6172200" y="1825625"/>
          <a:ext cx="5181600" cy="43513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4046600015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63055546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019251294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MI 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5732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building_height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0.4776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355222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vol_lod13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0.3614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582429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mbr_length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0.3585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07838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footprint_perimeter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0.3436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339520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longest_edge_length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0.3384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6024082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mbr_width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0.3367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857148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footprint_area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0.3311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522703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orientation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0.2103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3585838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edge_length_ratio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0.1739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311255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compactness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0.1279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8484774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aspect_ratio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0.1192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009753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rectangularity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0.0614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3154512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n_footprint_vertices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0.0559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309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0091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68485-2096-F9E4-A4E6-753E50DC5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487395-427E-F51D-14AB-F14AB9223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/>
              <a:t>Consensus Feature Selection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6B62B7B-BC26-F88A-E6EB-E5134285D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Selected features (7):</a:t>
            </a:r>
          </a:p>
          <a:p>
            <a:pPr marL="457200" lvl="1" indent="0">
              <a:buNone/>
            </a:pPr>
            <a:r>
              <a:rPr lang="en-IN" sz="1400" dirty="0"/>
              <a:t>footprint_area		score=3 (RF rank:3, Perm rank:10, MI rank:7)</a:t>
            </a:r>
          </a:p>
          <a:p>
            <a:pPr marL="457200" lvl="1" indent="0">
              <a:buNone/>
            </a:pPr>
            <a:r>
              <a:rPr lang="en-IN" sz="1400" dirty="0"/>
              <a:t>footprint_perimeter	score=6 (RF rank:4, Perm rank:5, MI rank:4)</a:t>
            </a:r>
          </a:p>
          <a:p>
            <a:pPr marL="457200" lvl="1" indent="0">
              <a:buNone/>
            </a:pPr>
            <a:r>
              <a:rPr lang="en-IN" sz="1400" dirty="0"/>
              <a:t>mbr_length		score=6 (RF rank:6, Perm rank:4, MI rank:3)</a:t>
            </a:r>
          </a:p>
          <a:p>
            <a:pPr marL="457200" lvl="1" indent="0">
              <a:buNone/>
            </a:pPr>
            <a:r>
              <a:rPr lang="en-IN" sz="1400" dirty="0"/>
              <a:t>mbr_width		score=6 (RF rank:5, Perm rank:6, MI rank:6)</a:t>
            </a:r>
          </a:p>
          <a:p>
            <a:pPr marL="457200" lvl="1" indent="0">
              <a:buNone/>
            </a:pPr>
            <a:r>
              <a:rPr lang="en-IN" sz="1400" dirty="0"/>
              <a:t>building_height		score=6 (RF rank:1, Perm rank:1, MI rank:1)</a:t>
            </a:r>
          </a:p>
          <a:p>
            <a:pPr marL="457200" lvl="1" indent="0">
              <a:buNone/>
            </a:pPr>
            <a:r>
              <a:rPr lang="en-IN" sz="1400" dirty="0"/>
              <a:t>longest_edge_length	score=5 (RF rank:7, Perm rank:2, MI rank:5)</a:t>
            </a:r>
          </a:p>
          <a:p>
            <a:pPr marL="457200" lvl="1" indent="0">
              <a:buNone/>
            </a:pPr>
            <a:r>
              <a:rPr lang="en-IN" sz="1400" dirty="0"/>
              <a:t>vol_lod13                 		score=6 (RF rank:2, Perm rank:3, MI rank:2)</a:t>
            </a:r>
          </a:p>
          <a:p>
            <a:pPr marL="0" indent="0">
              <a:buNone/>
            </a:pPr>
            <a:r>
              <a:rPr lang="en-IN" sz="1800" dirty="0"/>
              <a:t>Dropped features (6):</a:t>
            </a:r>
          </a:p>
          <a:p>
            <a:pPr marL="457200" lvl="1" indent="0">
              <a:buNone/>
            </a:pPr>
            <a:r>
              <a:rPr lang="en-IN" sz="1400" dirty="0"/>
              <a:t>n_footprint_vertices      	score=2 (RF rank:12, Perm rank:8, MI rank:13)</a:t>
            </a:r>
          </a:p>
          <a:p>
            <a:pPr marL="457200" lvl="1" indent="0">
              <a:buNone/>
            </a:pPr>
            <a:r>
              <a:rPr lang="en-IN" sz="1400" dirty="0"/>
              <a:t>aspect_ratio              	score=2 (RF rank:8, Perm rank:9, MI rank:11)</a:t>
            </a:r>
          </a:p>
          <a:p>
            <a:pPr marL="457200" lvl="1" indent="0">
              <a:buNone/>
            </a:pPr>
            <a:r>
              <a:rPr lang="en-IN" sz="1400" dirty="0"/>
              <a:t>compactness               	score=2 (RF rank:9, Perm rank:13, MI rank:10)</a:t>
            </a:r>
          </a:p>
          <a:p>
            <a:pPr marL="457200" lvl="1" indent="0">
              <a:buNone/>
            </a:pPr>
            <a:r>
              <a:rPr lang="en-IN" sz="1400" dirty="0"/>
              <a:t>rectangularity            	score=2 (RF rank:11, Perm rank:7, MI rank:12)</a:t>
            </a:r>
          </a:p>
          <a:p>
            <a:pPr marL="457200" lvl="1" indent="0">
              <a:buNone/>
            </a:pPr>
            <a:r>
              <a:rPr lang="en-IN" sz="1400" dirty="0"/>
              <a:t>edge_length_ratio         	score=2 (RF rank:10, Perm rank:12, MI rank:9)</a:t>
            </a:r>
          </a:p>
          <a:p>
            <a:pPr marL="457200" lvl="1" indent="0">
              <a:buNone/>
            </a:pPr>
            <a:r>
              <a:rPr lang="en-IN" sz="1400" dirty="0"/>
              <a:t>orientation               	score=1 (RF rank:13, Perm rank:11, MI rank:8)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0327CD-EF26-9178-E463-D535D17781B1}"/>
              </a:ext>
            </a:extLst>
          </p:cNvPr>
          <p:cNvSpPr txBox="1"/>
          <p:nvPr/>
        </p:nvSpPr>
        <p:spPr>
          <a:xfrm>
            <a:off x="7406595" y="3213556"/>
            <a:ext cx="394720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Key Findings (RQ1)</a:t>
            </a:r>
          </a:p>
          <a:p>
            <a:r>
              <a:rPr lang="en-US" sz="1100" dirty="0"/>
              <a:t>Top feature: building_height (21.7%) followed by vol_lod13 (15.1%) and footprint_area (9.6%)</a:t>
            </a:r>
          </a:p>
          <a:p>
            <a:r>
              <a:rPr lang="en-US" sz="1100" dirty="0"/>
              <a:t>Building size and height alone provide strong classification signal from pure LOD1.3 geometry</a:t>
            </a:r>
          </a:p>
          <a:p>
            <a:r>
              <a:rPr lang="en-US" sz="1100" dirty="0"/>
              <a:t>7 features sufficient all derivable from LOD 1.3 without LIDAR or LOD2.2 data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2203263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299E7-2810-AD50-CACB-45E5E8C8B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ED3E2E-0255-7557-1B87-2C1AA0859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/>
              <a:t>Roof Type Classification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194063-CB0C-4F84-5F56-2443DED4A5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800" dirty="0"/>
              <a:t>Input (7 features from LOD1.3)</a:t>
            </a:r>
          </a:p>
          <a:p>
            <a:pPr marL="457200" lvl="1" indent="0">
              <a:buNone/>
            </a:pPr>
            <a:endParaRPr lang="en-IN" sz="1400" dirty="0"/>
          </a:p>
          <a:p>
            <a:pPr marL="457200" lvl="1" indent="0">
              <a:buNone/>
            </a:pPr>
            <a:r>
              <a:rPr lang="en-IN" sz="1400" dirty="0"/>
              <a:t>footprint_area (m</a:t>
            </a:r>
            <a:r>
              <a:rPr lang="en-IN" sz="1400" baseline="30000" dirty="0"/>
              <a:t>2</a:t>
            </a:r>
            <a:r>
              <a:rPr lang="en-IN" sz="1400" dirty="0"/>
              <a:t>)</a:t>
            </a:r>
          </a:p>
          <a:p>
            <a:pPr marL="457200" lvl="1" indent="0">
              <a:buNone/>
            </a:pPr>
            <a:r>
              <a:rPr lang="en-IN" sz="1400" dirty="0"/>
              <a:t>footprint_perimeter (m)</a:t>
            </a:r>
          </a:p>
          <a:p>
            <a:pPr marL="457200" lvl="1" indent="0">
              <a:buNone/>
            </a:pPr>
            <a:r>
              <a:rPr lang="en-IN" sz="1400" dirty="0"/>
              <a:t>mbr_length (longest side of bounding rect)</a:t>
            </a:r>
          </a:p>
          <a:p>
            <a:pPr marL="457200" lvl="1" indent="0">
              <a:buNone/>
            </a:pPr>
            <a:r>
              <a:rPr lang="en-IN" sz="1400" dirty="0"/>
              <a:t>mbr_width (shortest side of bounding rect)</a:t>
            </a:r>
          </a:p>
          <a:p>
            <a:pPr marL="457200" lvl="1" indent="0">
              <a:buNone/>
            </a:pPr>
            <a:r>
              <a:rPr lang="en-IN" sz="1400" dirty="0"/>
              <a:t>longest_edge_length (m)</a:t>
            </a:r>
          </a:p>
          <a:p>
            <a:pPr marL="457200" lvl="1" indent="0">
              <a:buNone/>
            </a:pPr>
            <a:r>
              <a:rPr lang="en-IN" sz="1400" dirty="0"/>
              <a:t>building_height (max_z – min_z)</a:t>
            </a:r>
          </a:p>
          <a:p>
            <a:pPr marL="457200" lvl="1" indent="0">
              <a:buNone/>
            </a:pPr>
            <a:r>
              <a:rPr lang="en-IN" sz="1400" dirty="0"/>
              <a:t>vol_lod13 (LOD1.3 volume in m</a:t>
            </a:r>
            <a:r>
              <a:rPr lang="en-IN" sz="1400" baseline="30000" dirty="0"/>
              <a:t>2</a:t>
            </a:r>
            <a:r>
              <a:rPr lang="en-IN" sz="14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E7A7B-7591-22CA-8B69-99ED53896C0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800" dirty="0"/>
              <a:t>Output (Roof types)</a:t>
            </a:r>
          </a:p>
          <a:p>
            <a:pPr marL="0" indent="0">
              <a:buNone/>
            </a:pPr>
            <a:r>
              <a:rPr lang="en-IN" sz="1800" dirty="0"/>
              <a:t>One of three classes:</a:t>
            </a:r>
          </a:p>
          <a:p>
            <a:pPr marL="457200" lvl="1" indent="0">
              <a:buNone/>
            </a:pPr>
            <a:r>
              <a:rPr lang="en-IN" sz="1400" dirty="0"/>
              <a:t>Flat | Gabled | Hipped</a:t>
            </a:r>
          </a:p>
          <a:p>
            <a:pPr marL="457200" lvl="1" indent="0">
              <a:buNone/>
            </a:pPr>
            <a:endParaRPr lang="en-IN" sz="1400" dirty="0"/>
          </a:p>
          <a:p>
            <a:pPr marL="457200" lvl="1" indent="0">
              <a:buNone/>
            </a:pPr>
            <a:r>
              <a:rPr lang="en-IN" sz="1400" dirty="0"/>
              <a:t>RF Accuracy: 0.8900</a:t>
            </a:r>
          </a:p>
          <a:p>
            <a:pPr marL="457200" lvl="1" indent="0">
              <a:buNone/>
            </a:pPr>
            <a:r>
              <a:rPr lang="en-IN" sz="1400" dirty="0"/>
              <a:t>RF F1 Score: 0.8920</a:t>
            </a:r>
          </a:p>
          <a:p>
            <a:pPr marL="457200" lvl="1" indent="0">
              <a:buNone/>
            </a:pPr>
            <a:endParaRPr lang="en-IN" sz="1400" dirty="0"/>
          </a:p>
          <a:p>
            <a:pPr marL="457200" lvl="1" indent="0">
              <a:buNone/>
            </a:pPr>
            <a:endParaRPr lang="en-IN" sz="1400" dirty="0"/>
          </a:p>
          <a:p>
            <a:pPr marL="457200" lvl="1" indent="0">
              <a:buNone/>
            </a:pPr>
            <a:endParaRPr lang="en-IN" sz="1400" dirty="0"/>
          </a:p>
          <a:p>
            <a:pPr marL="457200" lvl="1" indent="0">
              <a:buNone/>
            </a:pPr>
            <a:endParaRPr lang="en-IN" sz="1400" dirty="0"/>
          </a:p>
          <a:p>
            <a:pPr marL="457200" lvl="1" indent="0">
              <a:buNone/>
            </a:pPr>
            <a:endParaRPr lang="en-IN" sz="1400" dirty="0"/>
          </a:p>
          <a:p>
            <a:pPr marL="457200" lvl="1" indent="0">
              <a:buNone/>
            </a:pPr>
            <a:endParaRPr lang="en-IN" sz="1400" dirty="0"/>
          </a:p>
          <a:p>
            <a:pPr marL="457200" lvl="1" indent="0">
              <a:buNone/>
            </a:pPr>
            <a:r>
              <a:rPr lang="en-IN" sz="1400" dirty="0"/>
              <a:t>MLP Accuracy: 0.8619</a:t>
            </a:r>
          </a:p>
          <a:p>
            <a:pPr marL="457200" lvl="1" indent="0">
              <a:buNone/>
            </a:pPr>
            <a:r>
              <a:rPr lang="en-IN" sz="1400" dirty="0"/>
              <a:t>MLP F1: 0.8597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7AA069-7E5F-C460-EAA8-7979055B9B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975564"/>
              </p:ext>
            </p:extLst>
          </p:nvPr>
        </p:nvGraphicFramePr>
        <p:xfrm>
          <a:off x="8139722" y="3569452"/>
          <a:ext cx="3464170" cy="1274984"/>
        </p:xfrm>
        <a:graphic>
          <a:graphicData uri="http://schemas.openxmlformats.org/drawingml/2006/table">
            <a:tbl>
              <a:tblPr bandRow="1">
                <a:tableStyleId>{5202B0CA-FC54-4496-8BCA-5EF66A818D29}</a:tableStyleId>
              </a:tblPr>
              <a:tblGrid>
                <a:gridCol w="692834">
                  <a:extLst>
                    <a:ext uri="{9D8B030D-6E8A-4147-A177-3AD203B41FA5}">
                      <a16:colId xmlns:a16="http://schemas.microsoft.com/office/drawing/2014/main" val="1346494481"/>
                    </a:ext>
                  </a:extLst>
                </a:gridCol>
                <a:gridCol w="692834">
                  <a:extLst>
                    <a:ext uri="{9D8B030D-6E8A-4147-A177-3AD203B41FA5}">
                      <a16:colId xmlns:a16="http://schemas.microsoft.com/office/drawing/2014/main" val="2721988058"/>
                    </a:ext>
                  </a:extLst>
                </a:gridCol>
                <a:gridCol w="692834">
                  <a:extLst>
                    <a:ext uri="{9D8B030D-6E8A-4147-A177-3AD203B41FA5}">
                      <a16:colId xmlns:a16="http://schemas.microsoft.com/office/drawing/2014/main" val="2568810239"/>
                    </a:ext>
                  </a:extLst>
                </a:gridCol>
                <a:gridCol w="692834">
                  <a:extLst>
                    <a:ext uri="{9D8B030D-6E8A-4147-A177-3AD203B41FA5}">
                      <a16:colId xmlns:a16="http://schemas.microsoft.com/office/drawing/2014/main" val="3523711352"/>
                    </a:ext>
                  </a:extLst>
                </a:gridCol>
                <a:gridCol w="692834">
                  <a:extLst>
                    <a:ext uri="{9D8B030D-6E8A-4147-A177-3AD203B41FA5}">
                      <a16:colId xmlns:a16="http://schemas.microsoft.com/office/drawing/2014/main" val="4080194525"/>
                    </a:ext>
                  </a:extLst>
                </a:gridCol>
              </a:tblGrid>
              <a:tr h="318746">
                <a:tc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9038618"/>
                  </a:ext>
                </a:extLst>
              </a:tr>
              <a:tr h="31874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flat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0.93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599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154271"/>
                  </a:ext>
                </a:extLst>
              </a:tr>
              <a:tr h="31874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gabled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0.86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544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8866168"/>
                  </a:ext>
                </a:extLst>
              </a:tr>
              <a:tr h="31874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hipped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0.66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0.74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457707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283F88-7A8D-ED4E-A70F-613DAAC61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700849"/>
              </p:ext>
            </p:extLst>
          </p:nvPr>
        </p:nvGraphicFramePr>
        <p:xfrm>
          <a:off x="4523154" y="3569452"/>
          <a:ext cx="3464172" cy="1274982"/>
        </p:xfrm>
        <a:graphic>
          <a:graphicData uri="http://schemas.openxmlformats.org/drawingml/2006/table">
            <a:tbl>
              <a:tblPr bandRow="1">
                <a:tableStyleId>{5202B0CA-FC54-4496-8BCA-5EF66A818D29}</a:tableStyleId>
              </a:tblPr>
              <a:tblGrid>
                <a:gridCol w="866043">
                  <a:extLst>
                    <a:ext uri="{9D8B030D-6E8A-4147-A177-3AD203B41FA5}">
                      <a16:colId xmlns:a16="http://schemas.microsoft.com/office/drawing/2014/main" val="1346494481"/>
                    </a:ext>
                  </a:extLst>
                </a:gridCol>
                <a:gridCol w="866043">
                  <a:extLst>
                    <a:ext uri="{9D8B030D-6E8A-4147-A177-3AD203B41FA5}">
                      <a16:colId xmlns:a16="http://schemas.microsoft.com/office/drawing/2014/main" val="2721988058"/>
                    </a:ext>
                  </a:extLst>
                </a:gridCol>
                <a:gridCol w="866043">
                  <a:extLst>
                    <a:ext uri="{9D8B030D-6E8A-4147-A177-3AD203B41FA5}">
                      <a16:colId xmlns:a16="http://schemas.microsoft.com/office/drawing/2014/main" val="2568810239"/>
                    </a:ext>
                  </a:extLst>
                </a:gridCol>
                <a:gridCol w="866043">
                  <a:extLst>
                    <a:ext uri="{9D8B030D-6E8A-4147-A177-3AD203B41FA5}">
                      <a16:colId xmlns:a16="http://schemas.microsoft.com/office/drawing/2014/main" val="3523711352"/>
                    </a:ext>
                  </a:extLst>
                </a:gridCol>
              </a:tblGrid>
              <a:tr h="292914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Predicted →</a:t>
                      </a:r>
                    </a:p>
                    <a:p>
                      <a:pPr algn="ctr"/>
                      <a:r>
                        <a:rPr lang="en-IN" sz="1000" dirty="0"/>
                        <a:t>Actual 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flat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gabled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hipped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9038618"/>
                  </a:ext>
                </a:extLst>
              </a:tr>
              <a:tr h="292914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flat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560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154271"/>
                  </a:ext>
                </a:extLst>
              </a:tr>
              <a:tr h="292914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gabled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466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8866168"/>
                  </a:ext>
                </a:extLst>
              </a:tr>
              <a:tr h="292914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hipped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4577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9382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19046-0836-AC69-611E-AF0D1DA9E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0249BA3-2D14-B58D-49FE-4A26FF4A7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/>
              <a:t>Roof Type Classification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7A4877-AD89-A893-912C-A58CC7BC4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800" dirty="0"/>
              <a:t>But how can roof type be predicted using only footprint geometry?</a:t>
            </a:r>
          </a:p>
          <a:p>
            <a:pPr marL="0" indent="0" algn="ctr">
              <a:buNone/>
            </a:pPr>
            <a:endParaRPr lang="en-IN" sz="1800" dirty="0"/>
          </a:p>
          <a:p>
            <a:pPr marL="457200" lvl="1" indent="0">
              <a:buNone/>
            </a:pPr>
            <a:r>
              <a:rPr lang="en-US" sz="1400" dirty="0"/>
              <a:t>In architecture, the roof structure is strongly influenced by the footprint geometry.</a:t>
            </a:r>
          </a:p>
          <a:p>
            <a:pPr marL="457200" lvl="1" indent="0">
              <a:buNone/>
            </a:pPr>
            <a:r>
              <a:rPr lang="en-US" sz="1400" dirty="0"/>
              <a:t>Reasons include:</a:t>
            </a:r>
          </a:p>
          <a:p>
            <a:pPr lvl="1"/>
            <a:r>
              <a:rPr lang="en-IN" sz="1400" dirty="0"/>
              <a:t>structural stability (wall placement, span length, load distribution)</a:t>
            </a:r>
          </a:p>
          <a:p>
            <a:pPr lvl="1"/>
            <a:r>
              <a:rPr lang="en-IN" sz="1400" dirty="0"/>
              <a:t>Drainage (helps direct water away from walls)</a:t>
            </a:r>
          </a:p>
          <a:p>
            <a:pPr lvl="1"/>
            <a:r>
              <a:rPr lang="en-IN" sz="1400" dirty="0"/>
              <a:t>construction cost</a:t>
            </a:r>
          </a:p>
          <a:p>
            <a:pPr lvl="1"/>
            <a:r>
              <a:rPr lang="en-IN" sz="1400" dirty="0"/>
              <a:t>architectural design patterns (warehouse → flat, suburban house → gabled, compact house →hipped)</a:t>
            </a:r>
          </a:p>
          <a:p>
            <a:pPr marL="457200" lvl="1" indent="0">
              <a:buNone/>
            </a:pPr>
            <a:r>
              <a:rPr lang="en-IN" sz="1400" dirty="0"/>
              <a:t>So certain footprint shapes tend to use certain roof types.</a:t>
            </a:r>
          </a:p>
        </p:txBody>
      </p:sp>
    </p:spTree>
    <p:extLst>
      <p:ext uri="{BB962C8B-B14F-4D97-AF65-F5344CB8AC3E}">
        <p14:creationId xmlns:p14="http://schemas.microsoft.com/office/powerpoint/2010/main" val="3765929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A5051-D8B4-9732-B742-F927813F3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27937E1-91ED-F18E-BF1A-9C35A0516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/>
              <a:t>Roof Vertex Prediction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EC5B1A-33B7-3FC7-B8D3-1CC27CAFAC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800" dirty="0"/>
              <a:t>Input</a:t>
            </a:r>
          </a:p>
          <a:p>
            <a:pPr marL="0" indent="0" algn="ctr">
              <a:buNone/>
            </a:pPr>
            <a:endParaRPr lang="en-IN" sz="1800" dirty="0"/>
          </a:p>
          <a:p>
            <a:pPr marL="0" indent="0" algn="ctr">
              <a:buNone/>
            </a:pPr>
            <a:endParaRPr lang="en-IN" sz="1800" dirty="0"/>
          </a:p>
          <a:p>
            <a:pPr marL="0" indent="0" algn="ctr">
              <a:buNone/>
            </a:pPr>
            <a:endParaRPr lang="en-IN" sz="1800" dirty="0"/>
          </a:p>
          <a:p>
            <a:pPr marL="0" indent="0" algn="ctr">
              <a:buNone/>
            </a:pPr>
            <a:endParaRPr lang="en-IN" sz="1800" dirty="0"/>
          </a:p>
          <a:p>
            <a:pPr marL="0" indent="0" algn="ctr">
              <a:buNone/>
            </a:pPr>
            <a:endParaRPr lang="en-IN" sz="1800" dirty="0"/>
          </a:p>
          <a:p>
            <a:pPr marL="457200" lvl="1" indent="0">
              <a:buNone/>
            </a:pPr>
            <a:r>
              <a:rPr lang="en-IN" sz="1400" dirty="0"/>
              <a:t>Each building is represented using 26 geometric features derived from the footprint and building properties.</a:t>
            </a:r>
          </a:p>
          <a:p>
            <a:pPr marL="457200" lvl="1" indent="0">
              <a:buNone/>
            </a:pPr>
            <a:r>
              <a:rPr lang="en-IN" sz="1400" dirty="0"/>
              <a:t>Input dimension: 26</a:t>
            </a:r>
          </a:p>
          <a:p>
            <a:pPr marL="457200" lvl="1" indent="0">
              <a:buNone/>
            </a:pPr>
            <a:endParaRPr lang="en-IN" sz="1400" dirty="0"/>
          </a:p>
          <a:p>
            <a:pPr marL="457200" lvl="1" indent="0">
              <a:buNone/>
            </a:pPr>
            <a:r>
              <a:rPr lang="en-IN" sz="1400" dirty="0"/>
              <a:t>Separate model for gabled and hipped roof.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C3BF9-0A37-FABD-18D3-7818087522A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800" dirty="0"/>
              <a:t>Output</a:t>
            </a:r>
          </a:p>
          <a:p>
            <a:pPr marL="0" indent="0" algn="ctr">
              <a:buNone/>
            </a:pPr>
            <a:endParaRPr lang="en-IN" sz="1800" dirty="0"/>
          </a:p>
          <a:p>
            <a:pPr marL="0" indent="0" algn="ctr">
              <a:buNone/>
            </a:pPr>
            <a:endParaRPr lang="en-IN" sz="1800" dirty="0"/>
          </a:p>
          <a:p>
            <a:pPr marL="0" indent="0" algn="ctr">
              <a:buNone/>
            </a:pPr>
            <a:endParaRPr lang="en-IN" sz="1800" dirty="0"/>
          </a:p>
          <a:p>
            <a:pPr marL="0" indent="0" algn="ctr">
              <a:buNone/>
            </a:pPr>
            <a:endParaRPr lang="en-IN" sz="1800" dirty="0"/>
          </a:p>
          <a:p>
            <a:pPr marL="0" indent="0" algn="ctr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Output Vector:</a:t>
            </a:r>
          </a:p>
          <a:p>
            <a:pPr marL="457200" lvl="1" indent="0">
              <a:buNone/>
            </a:pPr>
            <a:r>
              <a:rPr lang="en-IN" sz="1400" dirty="0"/>
              <a:t>[ridge_cx, ridge_cy, ridge_z, ridge_half_len, dim4, dim5]</a:t>
            </a:r>
          </a:p>
          <a:p>
            <a:pPr marL="457200" lvl="1" indent="0">
              <a:buNone/>
            </a:pPr>
            <a:endParaRPr lang="en-IN" sz="1400" dirty="0"/>
          </a:p>
          <a:p>
            <a:pPr marL="457200" lvl="1" indent="0">
              <a:buNone/>
            </a:pPr>
            <a:r>
              <a:rPr lang="en-US" sz="1400" dirty="0"/>
              <a:t>Instead of predicting the entire roof mesh, the model predicts ridge parameters that allow reconstruction of the roof.</a:t>
            </a:r>
            <a:endParaRPr lang="en-IN" sz="14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9E8BE25-ABD7-8AA2-0105-002D5313B06A}"/>
              </a:ext>
            </a:extLst>
          </p:cNvPr>
          <p:cNvGrpSpPr/>
          <p:nvPr/>
        </p:nvGrpSpPr>
        <p:grpSpPr>
          <a:xfrm>
            <a:off x="2082469" y="2268575"/>
            <a:ext cx="2693062" cy="1577076"/>
            <a:chOff x="588180" y="2098144"/>
            <a:chExt cx="2693062" cy="157707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EE876C2-C6BE-B4F8-4947-EFDC554EF4CC}"/>
                </a:ext>
              </a:extLst>
            </p:cNvPr>
            <p:cNvSpPr/>
            <p:nvPr/>
          </p:nvSpPr>
          <p:spPr>
            <a:xfrm>
              <a:off x="1070043" y="2344366"/>
              <a:ext cx="1750978" cy="108463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19050">
              <a:solidFill>
                <a:srgbClr val="0070C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C5C8F53-9B04-0BC3-AD50-1F0C158524AB}"/>
                </a:ext>
              </a:extLst>
            </p:cNvPr>
            <p:cNvSpPr/>
            <p:nvPr/>
          </p:nvSpPr>
          <p:spPr>
            <a:xfrm>
              <a:off x="1922672" y="2863823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691A958-9C07-FA35-D33C-2204B5149BA1}"/>
                </a:ext>
              </a:extLst>
            </p:cNvPr>
            <p:cNvSpPr txBox="1"/>
            <p:nvPr/>
          </p:nvSpPr>
          <p:spPr>
            <a:xfrm>
              <a:off x="1941990" y="2763571"/>
              <a:ext cx="5164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>
                  <a:solidFill>
                    <a:srgbClr val="FF0000"/>
                  </a:solidFill>
                </a:rPr>
                <a:t>Origin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FD90B0C-A7B6-BD7D-1396-098246FC7982}"/>
                </a:ext>
              </a:extLst>
            </p:cNvPr>
            <p:cNvSpPr txBox="1"/>
            <p:nvPr/>
          </p:nvSpPr>
          <p:spPr>
            <a:xfrm>
              <a:off x="588180" y="3428999"/>
              <a:ext cx="96372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>
                  <a:solidFill>
                    <a:srgbClr val="FF0000"/>
                  </a:solidFill>
                </a:rPr>
                <a:t>V1: (-0.5, -0.5)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87C100A-C21D-4B39-E6D0-7999DAA0D91E}"/>
                </a:ext>
              </a:extLst>
            </p:cNvPr>
            <p:cNvSpPr txBox="1"/>
            <p:nvPr/>
          </p:nvSpPr>
          <p:spPr>
            <a:xfrm>
              <a:off x="609819" y="2098144"/>
              <a:ext cx="92044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>
                  <a:solidFill>
                    <a:srgbClr val="FF0000"/>
                  </a:solidFill>
                </a:rPr>
                <a:t>V4</a:t>
              </a:r>
              <a:r>
                <a:rPr lang="en-IN" sz="1000" dirty="0">
                  <a:solidFill>
                    <a:srgbClr val="FF0000"/>
                  </a:solidFill>
                  <a:sym typeface="Wingdings" panose="05000000000000000000" pitchFamily="2" charset="2"/>
                </a:rPr>
                <a:t>: (-0.5, 0.5)</a:t>
              </a:r>
              <a:endParaRPr lang="en-IN" sz="1000" dirty="0">
                <a:solidFill>
                  <a:srgbClr val="FF0000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F876B0C-A46D-B3C5-46B2-D746076236B1}"/>
                </a:ext>
              </a:extLst>
            </p:cNvPr>
            <p:cNvSpPr txBox="1"/>
            <p:nvPr/>
          </p:nvSpPr>
          <p:spPr>
            <a:xfrm>
              <a:off x="2360797" y="3428999"/>
              <a:ext cx="92044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>
                  <a:solidFill>
                    <a:srgbClr val="FF0000"/>
                  </a:solidFill>
                </a:rPr>
                <a:t>V2: (0.5, -0.5)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8621088-9E3D-4B00-1178-8BAFEC3B102F}"/>
                </a:ext>
              </a:extLst>
            </p:cNvPr>
            <p:cNvSpPr txBox="1"/>
            <p:nvPr/>
          </p:nvSpPr>
          <p:spPr>
            <a:xfrm>
              <a:off x="2382439" y="2098144"/>
              <a:ext cx="87716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>
                  <a:solidFill>
                    <a:srgbClr val="FF0000"/>
                  </a:solidFill>
                </a:rPr>
                <a:t>V3: (0.5, 0.5)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C9F4AC9-60CE-B357-4B6E-5A3455DD6B11}"/>
              </a:ext>
            </a:extLst>
          </p:cNvPr>
          <p:cNvGrpSpPr/>
          <p:nvPr/>
        </p:nvGrpSpPr>
        <p:grpSpPr>
          <a:xfrm>
            <a:off x="7422467" y="2245716"/>
            <a:ext cx="2693062" cy="1577076"/>
            <a:chOff x="588180" y="2098144"/>
            <a:chExt cx="2693062" cy="157707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B122267-F997-FA14-A6B8-A5C4F22AE171}"/>
                </a:ext>
              </a:extLst>
            </p:cNvPr>
            <p:cNvSpPr/>
            <p:nvPr/>
          </p:nvSpPr>
          <p:spPr>
            <a:xfrm>
              <a:off x="1070043" y="2344366"/>
              <a:ext cx="1750978" cy="108463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19050">
              <a:solidFill>
                <a:srgbClr val="0070C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DDCAFE9-F918-06E7-B9AE-2E47EA1A9003}"/>
                </a:ext>
              </a:extLst>
            </p:cNvPr>
            <p:cNvSpPr/>
            <p:nvPr/>
          </p:nvSpPr>
          <p:spPr>
            <a:xfrm>
              <a:off x="1922672" y="2863823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98EEAAF-204F-01C9-E7FA-991A9938ACB7}"/>
                </a:ext>
              </a:extLst>
            </p:cNvPr>
            <p:cNvSpPr txBox="1"/>
            <p:nvPr/>
          </p:nvSpPr>
          <p:spPr>
            <a:xfrm>
              <a:off x="1945531" y="2597090"/>
              <a:ext cx="9108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>
                  <a:solidFill>
                    <a:srgbClr val="FF0000"/>
                  </a:solidFill>
                </a:rPr>
                <a:t>ridge_center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6203FB1-8977-6807-E006-58927C3BD40F}"/>
                </a:ext>
              </a:extLst>
            </p:cNvPr>
            <p:cNvSpPr txBox="1"/>
            <p:nvPr/>
          </p:nvSpPr>
          <p:spPr>
            <a:xfrm>
              <a:off x="588180" y="3428999"/>
              <a:ext cx="96372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>
                  <a:solidFill>
                    <a:srgbClr val="FF0000"/>
                  </a:solidFill>
                </a:rPr>
                <a:t>V1: (-0.5, -0.5)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8F77EF4-5820-6B32-5261-23C2F6633535}"/>
                </a:ext>
              </a:extLst>
            </p:cNvPr>
            <p:cNvSpPr txBox="1"/>
            <p:nvPr/>
          </p:nvSpPr>
          <p:spPr>
            <a:xfrm>
              <a:off x="609819" y="2098144"/>
              <a:ext cx="92044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>
                  <a:solidFill>
                    <a:srgbClr val="FF0000"/>
                  </a:solidFill>
                </a:rPr>
                <a:t>V4</a:t>
              </a:r>
              <a:r>
                <a:rPr lang="en-IN" sz="1000" dirty="0">
                  <a:solidFill>
                    <a:srgbClr val="FF0000"/>
                  </a:solidFill>
                  <a:sym typeface="Wingdings" panose="05000000000000000000" pitchFamily="2" charset="2"/>
                </a:rPr>
                <a:t>: (-0.5, 0.5)</a:t>
              </a:r>
              <a:endParaRPr lang="en-IN" sz="1000" dirty="0">
                <a:solidFill>
                  <a:srgbClr val="FF0000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A1AF904-A6F2-5B0D-8747-1595E3516F66}"/>
                </a:ext>
              </a:extLst>
            </p:cNvPr>
            <p:cNvSpPr txBox="1"/>
            <p:nvPr/>
          </p:nvSpPr>
          <p:spPr>
            <a:xfrm>
              <a:off x="2360797" y="3428999"/>
              <a:ext cx="92044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>
                  <a:solidFill>
                    <a:srgbClr val="FF0000"/>
                  </a:solidFill>
                </a:rPr>
                <a:t>V2: (0.5, -0.5)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D9B1BA5-95B1-D083-1FD9-1EFE1CEBD8B3}"/>
                </a:ext>
              </a:extLst>
            </p:cNvPr>
            <p:cNvSpPr txBox="1"/>
            <p:nvPr/>
          </p:nvSpPr>
          <p:spPr>
            <a:xfrm>
              <a:off x="2382439" y="2098144"/>
              <a:ext cx="87716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>
                  <a:solidFill>
                    <a:srgbClr val="FF0000"/>
                  </a:solidFill>
                </a:rPr>
                <a:t>V3: (0.5, 0.5)</a:t>
              </a: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437F54E-FC21-6654-4356-C995B538017B}"/>
              </a:ext>
            </a:extLst>
          </p:cNvPr>
          <p:cNvCxnSpPr>
            <a:cxnSpLocks/>
          </p:cNvCxnSpPr>
          <p:nvPr/>
        </p:nvCxnSpPr>
        <p:spPr>
          <a:xfrm>
            <a:off x="8255601" y="3034254"/>
            <a:ext cx="1094154" cy="0"/>
          </a:xfrm>
          <a:prstGeom prst="line">
            <a:avLst/>
          </a:prstGeom>
          <a:ln>
            <a:solidFill>
              <a:srgbClr val="FFFF00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849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034EC-61BC-FC8B-7D0E-AEB72AFF0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D7AD68E-AAE5-13A8-D66B-6B3A54C85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/>
              <a:t>Roof Vertex Prediction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909982-8158-7DD9-C05C-8CC7D1A626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800" dirty="0"/>
              <a:t>Input Representation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Footprint shape:</a:t>
            </a:r>
          </a:p>
          <a:p>
            <a:pPr marL="457200" lvl="1" indent="0">
              <a:buNone/>
            </a:pPr>
            <a:r>
              <a:rPr lang="en-IN" sz="1400" dirty="0"/>
              <a:t>Normalised coordinates of up to 8 footprint vertices.</a:t>
            </a:r>
          </a:p>
          <a:p>
            <a:pPr marL="457200" lvl="1" indent="0">
              <a:buNone/>
            </a:pPr>
            <a:r>
              <a:rPr lang="en-IN" sz="1400" dirty="0"/>
              <a:t>[v1_x, v1_y, v2_x, v2_y, …, v8_x, v8_y]</a:t>
            </a:r>
          </a:p>
          <a:p>
            <a:pPr marL="457200" lvl="1" indent="0">
              <a:buNone/>
            </a:pPr>
            <a:r>
              <a:rPr lang="en-IN" sz="1400" dirty="0"/>
              <a:t>Footprint is centered at building centroid</a:t>
            </a:r>
          </a:p>
          <a:p>
            <a:pPr marL="457200" lvl="1" indent="0">
              <a:buNone/>
            </a:pPr>
            <a:r>
              <a:rPr lang="en-IN" sz="1400" dirty="0"/>
              <a:t>Coordinates scaled by max(MBR length, width)</a:t>
            </a:r>
          </a:p>
          <a:p>
            <a:pPr marL="457200" lvl="1" indent="0">
              <a:buNone/>
            </a:pPr>
            <a:r>
              <a:rPr lang="en-US" sz="1400" dirty="0"/>
              <a:t>footprints with fewer vertices are zero-padded</a:t>
            </a:r>
            <a:endParaRPr lang="en-IN" sz="1400" dirty="0"/>
          </a:p>
          <a:p>
            <a:pPr marL="0" indent="0">
              <a:buNone/>
            </a:pPr>
            <a:r>
              <a:rPr lang="en-IN" sz="1800" dirty="0"/>
              <a:t>Geometric Building Features:</a:t>
            </a:r>
          </a:p>
          <a:p>
            <a:pPr marL="457200" lvl="1" indent="0">
              <a:buNone/>
            </a:pPr>
            <a:r>
              <a:rPr lang="en-IN" sz="1400" dirty="0"/>
              <a:t>len(footprint_2d), normalized_area, aspect_ratio, compactness, rectangularity, normalized_height, edge_length_ratio, normalized_orientation, normalized_mbr_length, normalized_mbr_width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675D7-43A0-77DA-0500-E93565C7E9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Models Tested:</a:t>
            </a:r>
          </a:p>
          <a:p>
            <a:pPr marL="457200" lvl="1" indent="0">
              <a:buNone/>
            </a:pPr>
            <a:r>
              <a:rPr lang="en-IN" sz="1400" dirty="0"/>
              <a:t>Random forest</a:t>
            </a:r>
          </a:p>
          <a:p>
            <a:pPr marL="457200" lvl="1" indent="0">
              <a:buNone/>
            </a:pPr>
            <a:r>
              <a:rPr lang="en-IN" sz="1400" dirty="0"/>
              <a:t>MLP-small: 64 → 32</a:t>
            </a:r>
          </a:p>
          <a:p>
            <a:pPr marL="457200" lvl="1" indent="0">
              <a:buNone/>
            </a:pPr>
            <a:r>
              <a:rPr lang="en-IN" sz="1400" dirty="0"/>
              <a:t>MLP-medium: 128 → 64 →32</a:t>
            </a:r>
          </a:p>
          <a:p>
            <a:pPr marL="457200" lvl="1" indent="0">
              <a:buNone/>
            </a:pPr>
            <a:r>
              <a:rPr lang="en-IN" sz="1400" dirty="0"/>
              <a:t>MLP-large: 256 →128 → 64</a:t>
            </a:r>
          </a:p>
          <a:p>
            <a:pPr marL="457200" lvl="1" indent="0">
              <a:buNone/>
            </a:pPr>
            <a:endParaRPr lang="en-IN" sz="1400" dirty="0"/>
          </a:p>
          <a:p>
            <a:pPr marL="457200" lvl="1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800" dirty="0"/>
              <a:t>Gabled Roof: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Hipped roof: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4CC7FCD-02C5-0FE4-F80B-6D61C3CA0CDA}"/>
              </a:ext>
            </a:extLst>
          </p:cNvPr>
          <p:cNvGrpSpPr/>
          <p:nvPr/>
        </p:nvGrpSpPr>
        <p:grpSpPr>
          <a:xfrm>
            <a:off x="2710179" y="2134653"/>
            <a:ext cx="2693062" cy="1577076"/>
            <a:chOff x="588180" y="2098144"/>
            <a:chExt cx="2693062" cy="157707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10DC0A3-3709-1AF0-8643-69B8E8E53598}"/>
                </a:ext>
              </a:extLst>
            </p:cNvPr>
            <p:cNvSpPr/>
            <p:nvPr/>
          </p:nvSpPr>
          <p:spPr>
            <a:xfrm>
              <a:off x="1070043" y="2344366"/>
              <a:ext cx="1750978" cy="108463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19050">
              <a:solidFill>
                <a:srgbClr val="0070C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BB43174-8BB7-8657-E167-7CD305D8F04D}"/>
                </a:ext>
              </a:extLst>
            </p:cNvPr>
            <p:cNvSpPr/>
            <p:nvPr/>
          </p:nvSpPr>
          <p:spPr>
            <a:xfrm>
              <a:off x="1922672" y="2863823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C7F98C0-57B6-E68A-19C2-A5A37F3165B5}"/>
                </a:ext>
              </a:extLst>
            </p:cNvPr>
            <p:cNvSpPr txBox="1"/>
            <p:nvPr/>
          </p:nvSpPr>
          <p:spPr>
            <a:xfrm>
              <a:off x="1941990" y="2763571"/>
              <a:ext cx="5164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>
                  <a:solidFill>
                    <a:srgbClr val="FF0000"/>
                  </a:solidFill>
                </a:rPr>
                <a:t>Origin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93378EC-0E2D-AC9C-EE4A-2D2F076DA5CC}"/>
                </a:ext>
              </a:extLst>
            </p:cNvPr>
            <p:cNvSpPr txBox="1"/>
            <p:nvPr/>
          </p:nvSpPr>
          <p:spPr>
            <a:xfrm>
              <a:off x="588180" y="3428999"/>
              <a:ext cx="96372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>
                  <a:solidFill>
                    <a:srgbClr val="FF0000"/>
                  </a:solidFill>
                </a:rPr>
                <a:t>V1: (-0.5, -0.5)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A6751D4-204F-5BD6-DDFA-743132ECA9C1}"/>
                </a:ext>
              </a:extLst>
            </p:cNvPr>
            <p:cNvSpPr txBox="1"/>
            <p:nvPr/>
          </p:nvSpPr>
          <p:spPr>
            <a:xfrm>
              <a:off x="609819" y="2098144"/>
              <a:ext cx="92044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>
                  <a:solidFill>
                    <a:srgbClr val="FF0000"/>
                  </a:solidFill>
                </a:rPr>
                <a:t>V4</a:t>
              </a:r>
              <a:r>
                <a:rPr lang="en-IN" sz="1000" dirty="0">
                  <a:solidFill>
                    <a:srgbClr val="FF0000"/>
                  </a:solidFill>
                  <a:sym typeface="Wingdings" panose="05000000000000000000" pitchFamily="2" charset="2"/>
                </a:rPr>
                <a:t>: (-0.5, 0.5)</a:t>
              </a:r>
              <a:endParaRPr lang="en-IN" sz="1000" dirty="0">
                <a:solidFill>
                  <a:srgbClr val="FF0000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32A7BF6-8DF9-4A90-E59B-5CFC104F5E94}"/>
                </a:ext>
              </a:extLst>
            </p:cNvPr>
            <p:cNvSpPr txBox="1"/>
            <p:nvPr/>
          </p:nvSpPr>
          <p:spPr>
            <a:xfrm>
              <a:off x="2360797" y="3428999"/>
              <a:ext cx="92044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>
                  <a:solidFill>
                    <a:srgbClr val="FF0000"/>
                  </a:solidFill>
                </a:rPr>
                <a:t>V2: (0.5, -0.5)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D092D79-B5FA-E125-4F21-DBE5AC8D1743}"/>
                </a:ext>
              </a:extLst>
            </p:cNvPr>
            <p:cNvSpPr txBox="1"/>
            <p:nvPr/>
          </p:nvSpPr>
          <p:spPr>
            <a:xfrm>
              <a:off x="2382439" y="2098144"/>
              <a:ext cx="87716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>
                  <a:solidFill>
                    <a:srgbClr val="FF0000"/>
                  </a:solidFill>
                </a:rPr>
                <a:t>V3: (0.5, 0.5)</a:t>
              </a:r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1C56CD36-26AE-2F74-ACE1-B222DE91F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90706"/>
              </p:ext>
            </p:extLst>
          </p:nvPr>
        </p:nvGraphicFramePr>
        <p:xfrm>
          <a:off x="7686220" y="3354409"/>
          <a:ext cx="2590710" cy="14226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295355">
                  <a:extLst>
                    <a:ext uri="{9D8B030D-6E8A-4147-A177-3AD203B41FA5}">
                      <a16:colId xmlns:a16="http://schemas.microsoft.com/office/drawing/2014/main" val="4124961162"/>
                    </a:ext>
                  </a:extLst>
                </a:gridCol>
                <a:gridCol w="1295355">
                  <a:extLst>
                    <a:ext uri="{9D8B030D-6E8A-4147-A177-3AD203B41FA5}">
                      <a16:colId xmlns:a16="http://schemas.microsoft.com/office/drawing/2014/main" val="2692531662"/>
                    </a:ext>
                  </a:extLst>
                </a:gridCol>
              </a:tblGrid>
              <a:tr h="284528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MAE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897482"/>
                  </a:ext>
                </a:extLst>
              </a:tr>
              <a:tr h="284528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MLP-small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0.0518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824990"/>
                  </a:ext>
                </a:extLst>
              </a:tr>
              <a:tr h="284528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MLP-medium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0.0563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866106"/>
                  </a:ext>
                </a:extLst>
              </a:tr>
              <a:tr h="284528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MLP-large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0.0520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5694"/>
                  </a:ext>
                </a:extLst>
              </a:tr>
              <a:tr h="284528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0.0343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395594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CE6230AF-53F1-79E6-8CB2-B921B55AA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824220"/>
              </p:ext>
            </p:extLst>
          </p:nvPr>
        </p:nvGraphicFramePr>
        <p:xfrm>
          <a:off x="7686220" y="4883193"/>
          <a:ext cx="2590710" cy="14226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295355">
                  <a:extLst>
                    <a:ext uri="{9D8B030D-6E8A-4147-A177-3AD203B41FA5}">
                      <a16:colId xmlns:a16="http://schemas.microsoft.com/office/drawing/2014/main" val="4124961162"/>
                    </a:ext>
                  </a:extLst>
                </a:gridCol>
                <a:gridCol w="1295355">
                  <a:extLst>
                    <a:ext uri="{9D8B030D-6E8A-4147-A177-3AD203B41FA5}">
                      <a16:colId xmlns:a16="http://schemas.microsoft.com/office/drawing/2014/main" val="2692531662"/>
                    </a:ext>
                  </a:extLst>
                </a:gridCol>
              </a:tblGrid>
              <a:tr h="284528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MAE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897482"/>
                  </a:ext>
                </a:extLst>
              </a:tr>
              <a:tr h="284528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MLP-small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0.0894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824990"/>
                  </a:ext>
                </a:extLst>
              </a:tr>
              <a:tr h="284528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MLP-medium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0.0899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866106"/>
                  </a:ext>
                </a:extLst>
              </a:tr>
              <a:tr h="284528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MLP-large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0.0730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5694"/>
                  </a:ext>
                </a:extLst>
              </a:tr>
              <a:tr h="284528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0.0427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395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9165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2425</TotalTime>
  <Words>1912</Words>
  <Application>Microsoft Office PowerPoint</Application>
  <PresentationFormat>Widescreen</PresentationFormat>
  <Paragraphs>436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Wingdings</vt:lpstr>
      <vt:lpstr>Office Theme</vt:lpstr>
      <vt:lpstr>Automatic Refinement of 3D Building Models</vt:lpstr>
      <vt:lpstr>The Problem: Buildings without Roofs</vt:lpstr>
      <vt:lpstr>Research Questions</vt:lpstr>
      <vt:lpstr>The Base Unit: What is a building in CityJSON?</vt:lpstr>
      <vt:lpstr>Three Roof Types We Handle</vt:lpstr>
      <vt:lpstr>Dataset: 3DBAG</vt:lpstr>
      <vt:lpstr>Pipeline Overview</vt:lpstr>
      <vt:lpstr>Feature Extraction and Selection</vt:lpstr>
      <vt:lpstr>Random Forest Feature Importance</vt:lpstr>
      <vt:lpstr>Permutation Importance</vt:lpstr>
      <vt:lpstr>Mutual Importance</vt:lpstr>
      <vt:lpstr>Consensus Feature Selection</vt:lpstr>
      <vt:lpstr>Roof Type Classification</vt:lpstr>
      <vt:lpstr>Roof Type Classification</vt:lpstr>
      <vt:lpstr>Roof Vertex Prediction</vt:lpstr>
      <vt:lpstr>Roof Vertex Prediction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Chandra Venkata Sai Sarika</dc:creator>
  <cp:lastModifiedBy>Chandra Venkata Sai Sarika</cp:lastModifiedBy>
  <cp:revision>6</cp:revision>
  <dcterms:created xsi:type="dcterms:W3CDTF">2026-03-06T17:07:44Z</dcterms:created>
  <dcterms:modified xsi:type="dcterms:W3CDTF">2026-03-13T10:25:16Z</dcterms:modified>
</cp:coreProperties>
</file>